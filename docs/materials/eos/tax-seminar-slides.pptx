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
  </p:notesMasterIdLst>
  <p:sldIdLst>
    <p:sldId id="256" r:id="rId2"/>
    <p:sldId id="257" r:id="rId3"/>
    <p:sldId id="258" r:id="rId4"/>
    <p:sldId id="260" r:id="rId5"/>
    <p:sldId id="261" r:id="rId6"/>
    <p:sldId id="262" r:id="rId7"/>
    <p:sldId id="264" r:id="rId8"/>
    <p:sldId id="259" r:id="rId9"/>
    <p:sldId id="263" r:id="rId10"/>
    <p:sldId id="265" r:id="rId11"/>
    <p:sldId id="266" r:id="rId12"/>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132A3824-8790-459F-A825-5EAE03221AB1}">
          <p14:sldIdLst>
            <p14:sldId id="256"/>
          </p14:sldIdLst>
        </p14:section>
        <p14:section name="Экономика без вмешательства государства" id="{0072603B-EFC5-44DA-B933-E897519F4E89}">
          <p14:sldIdLst>
            <p14:sldId id="257"/>
            <p14:sldId id="258"/>
            <p14:sldId id="260"/>
            <p14:sldId id="261"/>
            <p14:sldId id="262"/>
            <p14:sldId id="264"/>
          </p14:sldIdLst>
        </p14:section>
        <p14:section name="Вмешательство государство" id="{1A3EF9D2-2184-4F4D-BE57-CC592D3152DA}">
          <p14:sldIdLst>
            <p14:sldId id="259"/>
            <p14:sldId id="263"/>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2" d="100"/>
          <a:sy n="72" d="100"/>
        </p:scale>
        <p:origin x="389" y="3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21T19:57:15.111"/>
    </inkml:context>
    <inkml:brush xml:id="br0">
      <inkml:brushProperty name="width" value="0.1" units="cm"/>
      <inkml:brushProperty name="height" value="0.2" units="cm"/>
      <inkml:brushProperty name="color" value="#CC0000"/>
      <inkml:brushProperty name="tip" value="rectangle"/>
      <inkml:brushProperty name="rasterOp" value="maskPen"/>
      <inkml:brushProperty name="ignorePressure" value="1"/>
    </inkml:brush>
  </inkml:definitions>
  <inkml:trace contextRef="#ctx0" brushRef="#br0">145 2510,'0'-792,"-2"773,0 1,-1 0,-2 0,1 0,-2 1,-12-28,-9-28,2-38,18 73,-18-56,20 77,0-1,1-1,1 1,-1-30,6-77,0 49,-2-827,0 879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21T19:57:20.005"/>
    </inkml:context>
    <inkml:brush xml:id="br0">
      <inkml:brushProperty name="width" value="0.1" units="cm"/>
      <inkml:brushProperty name="height" value="0.2" units="cm"/>
      <inkml:brushProperty name="color" value="#CC0000"/>
      <inkml:brushProperty name="tip" value="rectangle"/>
      <inkml:brushProperty name="rasterOp" value="maskPen"/>
      <inkml:brushProperty name="ignorePressure" value="1"/>
    </inkml:brush>
  </inkml:definitions>
  <inkml:trace contextRef="#ctx0" brushRef="#br0">116 1465,'0'1046,"0"-1040,-1 1,1 0,-1 0,-1-1,1 1,-4 9,4-15,1 0,0 0,-1 0,1 0,-1 0,0 0,1 0,-1 0,0-1,1 1,-1 0,0-1,0 1,1 0,-1-1,0 1,0-1,0 1,0-1,-1 1,0-1,1 0,0 0,-1 0,1-1,-1 1,1 0,0-1,-1 1,1-1,0 0,0 1,-1-1,1 0,0 0,0 1,0-1,0 0,0 0,-2-2,0-2,-1 0,0 0,1 0,0 0,1 0,-1-1,1 1,0-1,0 0,0 1,1-1,-1-11,0-9,2-43,1 43,-1 8,0-14,2 1,9-59,4 31,-6 23,-1 0,5-59,-10 68,1 1,8-29,-4 20,3-11,-5 28,-2-1,4-37,-6-282,-4 168,1 147,-1 1,0 0,-10-35,2-10,8 47,-9-39,6 37,-5-43,8 41,-9-35,6 33,0-1,2-1,2 1,1-33,-3-36,0 73,-1 1,-1-1,-10-25,7 26,2 0,-7-44,10-103,4 111,-1 34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21T19:57:23.255"/>
    </inkml:context>
    <inkml:brush xml:id="br0">
      <inkml:brushProperty name="width" value="0.1" units="cm"/>
      <inkml:brushProperty name="height" value="0.2" units="cm"/>
      <inkml:brushProperty name="color" value="#CC0000"/>
      <inkml:brushProperty name="tip" value="rectangle"/>
      <inkml:brushProperty name="rasterOp" value="maskPen"/>
      <inkml:brushProperty name="ignorePressure" value="1"/>
    </inkml:brush>
  </inkml:definitions>
  <inkml:trace contextRef="#ctx0" brushRef="#br0">1 1441,'11'-12,"0"-2,-1 1,10-19,-14 21,1 0,1 1,-1-1,2 1,-1 1,20-17,-19 20,0-1,0 0,0-1,-1 1,0-2,-1 1,0-1,0 0,-1-1,8-15,-1 2,1 1,0 0,28-30,-21 27,30-47,-35 43,1 0,2 2,0 0,39-40,-47 55,-1 0,0-1,-1 0,-1 0,9-21,-6 15,23-35,-18 33,60-84,-45 59,69-80,-93 116,1-1,-2 1,1-2,-1 1,-1-1,6-16,-7 14,2 1,0-1,1 2,11-20,-8 18,-2-1,0 0,-1 0,0-1,6-24,-7 21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21T19:57:27.066"/>
    </inkml:context>
    <inkml:brush xml:id="br0">
      <inkml:brushProperty name="width" value="0.1" units="cm"/>
      <inkml:brushProperty name="height" value="0.2" units="cm"/>
      <inkml:brushProperty name="color" value="#CC0000"/>
      <inkml:brushProperty name="tip" value="rectangle"/>
      <inkml:brushProperty name="rasterOp" value="maskPen"/>
      <inkml:brushProperty name="ignorePressure" value="1"/>
    </inkml:brush>
  </inkml:definitions>
  <inkml:trace contextRef="#ctx0" brushRef="#br0">1 1,'4'0,"-1"0,1 1,0-1,-1 1,1 0,0 0,-1 0,1 0,-1 1,0 0,1-1,-1 1,0 1,5 3,2 4,-1-1,-1 1,8 11,-10-12,0-1,1 0,0 0,0-1,14 12,-7-8,0 0,-1 1,0 1,14 17,-15-15,2 0,0-1,19 15,-26-24,0-1,0 0,-1 1,1 0,-1 1,0-1,-1 1,1 0,-1 1,0-1,0 1,-1 0,5 12,-4-10,0 0,0-1,1 1,0-1,1 0,-1-1,2 0,-1 0,1 0,13 9,-9-8,-1 2,0-1,-1 1,14 16,-9 6,-13-28,-1 1,1-1,0 0,1 0,-1 0,1 0,0 0,3 4,51 44,-32-30,-1 1,-1 0,36 48,-52-62,0 0,1 0,18 15,-18-18,-1 1,0 0,0 0,0 1,-1-1,8 15,1 6,30 53,-39-71,1-1,0 0,0 0,1-1,0 0,11 7,-12-9,0-1,0 1,-1 1,0-1,0 1,0 0,-1 0,0 1,7 14,-6-4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21T19:57:49.675"/>
    </inkml:context>
    <inkml:brush xml:id="br0">
      <inkml:brushProperty name="width" value="0.1" units="cm"/>
      <inkml:brushProperty name="height" value="0.2" units="cm"/>
      <inkml:brushProperty name="color" value="#0069AF"/>
      <inkml:brushProperty name="tip" value="rectangle"/>
      <inkml:brushProperty name="rasterOp" value="maskPen"/>
      <inkml:brushProperty name="ignorePressure" value="1"/>
    </inkml:brush>
  </inkml:definitions>
  <inkml:trace contextRef="#ctx0" brushRef="#br0">1 0,'1638'0,"-1626"1,0 1,0-1,0 2,0 0,0 0,0 1,15 7,15 6,-28-14,0 1,0-2,1 0,27 0,-18-2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21T19:58:18.215"/>
    </inkml:context>
    <inkml:brush xml:id="br0">
      <inkml:brushProperty name="width" value="0.1" units="cm"/>
      <inkml:brushProperty name="height" value="0.2" units="cm"/>
      <inkml:brushProperty name="color" value="#0069AF"/>
      <inkml:brushProperty name="tip" value="rectangle"/>
      <inkml:brushProperty name="rasterOp" value="maskPen"/>
      <inkml:brushProperty name="ignorePressure" value="1"/>
    </inkml:brush>
  </inkml:definitions>
  <inkml:trace contextRef="#ctx0" brushRef="#br0">0 30,'369'0,"-340"-2,0 0,30-8,-27 4,45-2,424 7,-240 3,415-2,-652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21T19:58:21.888"/>
    </inkml:context>
    <inkml:brush xml:id="br0">
      <inkml:brushProperty name="width" value="0.1" units="cm"/>
      <inkml:brushProperty name="height" value="0.2" units="cm"/>
      <inkml:brushProperty name="color" value="#0069AF"/>
      <inkml:brushProperty name="tip" value="rectangle"/>
      <inkml:brushProperty name="rasterOp" value="maskPen"/>
      <inkml:brushProperty name="ignorePressure" value="1"/>
    </inkml:brush>
  </inkml:definitions>
  <inkml:trace contextRef="#ctx0" brushRef="#br0">1 0,'0'512,"1"-485,2 0,6 30,-3-26,2 34,-6 346,-4-212,2 647,0-822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21T19:58:25.422"/>
    </inkml:context>
    <inkml:brush xml:id="br0">
      <inkml:brushProperty name="width" value="0.1" units="cm"/>
      <inkml:brushProperty name="height" value="0.2" units="cm"/>
      <inkml:brushProperty name="color" value="#0069AF"/>
      <inkml:brushProperty name="tip" value="rectangle"/>
      <inkml:brushProperty name="rasterOp" value="maskPen"/>
      <inkml:brushProperty name="ignorePressure" value="1"/>
    </inkml:brush>
  </inkml:definitions>
  <inkml:trace contextRef="#ctx0" brushRef="#br0">57 2198,'0'-1611,"-2"1578,-1 0,-10-41,2 17,-1 1,7 37,1 0,-2-28,5-111,2 92,-1 41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D11D18-A655-4F24-8729-40819980E644}" type="datetimeFigureOut">
              <a:rPr lang="ru-RU" smtClean="0"/>
              <a:t>22.09.2026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0A9764-BB3B-4FF7-AA95-BB31C446ABE6}" type="slidenum">
              <a:rPr lang="ru-RU" smtClean="0"/>
              <a:t>‹#›</a:t>
            </a:fld>
            <a:endParaRPr lang="ru-RU"/>
          </a:p>
        </p:txBody>
      </p:sp>
    </p:spTree>
    <p:extLst>
      <p:ext uri="{BB962C8B-B14F-4D97-AF65-F5344CB8AC3E}">
        <p14:creationId xmlns:p14="http://schemas.microsoft.com/office/powerpoint/2010/main" val="37134798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670A9764-BB3B-4FF7-AA95-BB31C446ABE6}" type="slidenum">
              <a:rPr lang="ru-RU" smtClean="0"/>
              <a:t>1</a:t>
            </a:fld>
            <a:endParaRPr lang="ru-RU"/>
          </a:p>
        </p:txBody>
      </p:sp>
    </p:spTree>
    <p:extLst>
      <p:ext uri="{BB962C8B-B14F-4D97-AF65-F5344CB8AC3E}">
        <p14:creationId xmlns:p14="http://schemas.microsoft.com/office/powerpoint/2010/main" val="15276049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7795BD-4729-DA00-0129-6F3947348970}"/>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FA57E5A1-A9E7-8638-4C0C-0B59380BB3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A791F9C7-CBE5-F6DA-D46C-0D25FE1477D9}"/>
              </a:ext>
            </a:extLst>
          </p:cNvPr>
          <p:cNvSpPr>
            <a:spLocks noGrp="1"/>
          </p:cNvSpPr>
          <p:nvPr>
            <p:ph type="dt" sz="half" idx="10"/>
          </p:nvPr>
        </p:nvSpPr>
        <p:spPr/>
        <p:txBody>
          <a:bodyPr/>
          <a:lstStyle/>
          <a:p>
            <a:fld id="{565DB76F-E5BD-4B4D-BA72-FE95FF02D9E1}" type="datetime1">
              <a:rPr lang="ru-RU" smtClean="0"/>
              <a:t>22.09.2026</a:t>
            </a:fld>
            <a:endParaRPr lang="ru-RU"/>
          </a:p>
        </p:txBody>
      </p:sp>
      <p:sp>
        <p:nvSpPr>
          <p:cNvPr id="5" name="Нижний колонтитул 4">
            <a:extLst>
              <a:ext uri="{FF2B5EF4-FFF2-40B4-BE49-F238E27FC236}">
                <a16:creationId xmlns:a16="http://schemas.microsoft.com/office/drawing/2014/main" id="{EA83C06A-6658-0B0C-B9B2-3B20AFC56965}"/>
              </a:ext>
            </a:extLst>
          </p:cNvPr>
          <p:cNvSpPr>
            <a:spLocks noGrp="1"/>
          </p:cNvSpPr>
          <p:nvPr>
            <p:ph type="ftr" sz="quarter" idx="11"/>
          </p:nvPr>
        </p:nvSpPr>
        <p:spPr/>
        <p:txBody>
          <a:bodyPr/>
          <a:lstStyle/>
          <a:p>
            <a:r>
              <a:rPr lang="ru-RU"/>
              <a:t>Вмешательство государства </a:t>
            </a:r>
          </a:p>
        </p:txBody>
      </p:sp>
      <p:sp>
        <p:nvSpPr>
          <p:cNvPr id="6" name="Номер слайда 5">
            <a:extLst>
              <a:ext uri="{FF2B5EF4-FFF2-40B4-BE49-F238E27FC236}">
                <a16:creationId xmlns:a16="http://schemas.microsoft.com/office/drawing/2014/main" id="{51854F2A-0ABE-F0E0-DBF4-A2B464276F63}"/>
              </a:ext>
            </a:extLst>
          </p:cNvPr>
          <p:cNvSpPr>
            <a:spLocks noGrp="1"/>
          </p:cNvSpPr>
          <p:nvPr>
            <p:ph type="sldNum" sz="quarter" idx="12"/>
          </p:nvPr>
        </p:nvSpPr>
        <p:spPr/>
        <p:txBody>
          <a:bodyPr/>
          <a:lstStyle/>
          <a:p>
            <a:fld id="{23F470E1-E072-4587-920D-844ED8D976FF}" type="slidenum">
              <a:rPr lang="ru-RU" smtClean="0"/>
              <a:t>‹#›</a:t>
            </a:fld>
            <a:endParaRPr lang="ru-RU"/>
          </a:p>
        </p:txBody>
      </p:sp>
    </p:spTree>
    <p:extLst>
      <p:ext uri="{BB962C8B-B14F-4D97-AF65-F5344CB8AC3E}">
        <p14:creationId xmlns:p14="http://schemas.microsoft.com/office/powerpoint/2010/main" val="1942866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DB3562E-FA44-E73F-7092-1974BB3B2512}"/>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432C8703-83CE-FE00-E7E9-88D94E29571F}"/>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C2E26C8-9DCA-143E-0DDD-E23A44D10CFE}"/>
              </a:ext>
            </a:extLst>
          </p:cNvPr>
          <p:cNvSpPr>
            <a:spLocks noGrp="1"/>
          </p:cNvSpPr>
          <p:nvPr>
            <p:ph type="dt" sz="half" idx="10"/>
          </p:nvPr>
        </p:nvSpPr>
        <p:spPr/>
        <p:txBody>
          <a:bodyPr/>
          <a:lstStyle/>
          <a:p>
            <a:fld id="{C6AE0036-0C52-4B2E-844B-907CAA120767}" type="datetime1">
              <a:rPr lang="ru-RU" smtClean="0"/>
              <a:t>22.09.2026</a:t>
            </a:fld>
            <a:endParaRPr lang="ru-RU"/>
          </a:p>
        </p:txBody>
      </p:sp>
      <p:sp>
        <p:nvSpPr>
          <p:cNvPr id="5" name="Нижний колонтитул 4">
            <a:extLst>
              <a:ext uri="{FF2B5EF4-FFF2-40B4-BE49-F238E27FC236}">
                <a16:creationId xmlns:a16="http://schemas.microsoft.com/office/drawing/2014/main" id="{CF3B121C-8A5C-1A93-523E-F532CF245421}"/>
              </a:ext>
            </a:extLst>
          </p:cNvPr>
          <p:cNvSpPr>
            <a:spLocks noGrp="1"/>
          </p:cNvSpPr>
          <p:nvPr>
            <p:ph type="ftr" sz="quarter" idx="11"/>
          </p:nvPr>
        </p:nvSpPr>
        <p:spPr/>
        <p:txBody>
          <a:bodyPr/>
          <a:lstStyle/>
          <a:p>
            <a:r>
              <a:rPr lang="ru-RU"/>
              <a:t>Вмешательство государства </a:t>
            </a:r>
          </a:p>
        </p:txBody>
      </p:sp>
      <p:sp>
        <p:nvSpPr>
          <p:cNvPr id="6" name="Номер слайда 5">
            <a:extLst>
              <a:ext uri="{FF2B5EF4-FFF2-40B4-BE49-F238E27FC236}">
                <a16:creationId xmlns:a16="http://schemas.microsoft.com/office/drawing/2014/main" id="{BC27857C-B149-6B16-7F64-426F8E0E50FF}"/>
              </a:ext>
            </a:extLst>
          </p:cNvPr>
          <p:cNvSpPr>
            <a:spLocks noGrp="1"/>
          </p:cNvSpPr>
          <p:nvPr>
            <p:ph type="sldNum" sz="quarter" idx="12"/>
          </p:nvPr>
        </p:nvSpPr>
        <p:spPr/>
        <p:txBody>
          <a:bodyPr/>
          <a:lstStyle/>
          <a:p>
            <a:fld id="{23F470E1-E072-4587-920D-844ED8D976FF}" type="slidenum">
              <a:rPr lang="ru-RU" smtClean="0"/>
              <a:t>‹#›</a:t>
            </a:fld>
            <a:endParaRPr lang="ru-RU"/>
          </a:p>
        </p:txBody>
      </p:sp>
    </p:spTree>
    <p:extLst>
      <p:ext uri="{BB962C8B-B14F-4D97-AF65-F5344CB8AC3E}">
        <p14:creationId xmlns:p14="http://schemas.microsoft.com/office/powerpoint/2010/main" val="277572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B7437A4-B69E-7F55-6675-28A67A8F4EA9}"/>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7F099437-1935-BC2D-4428-678916316A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B14268F5-F5A4-9C71-7E77-96DB36C2F3F9}"/>
              </a:ext>
            </a:extLst>
          </p:cNvPr>
          <p:cNvSpPr>
            <a:spLocks noGrp="1"/>
          </p:cNvSpPr>
          <p:nvPr>
            <p:ph type="dt" sz="half" idx="10"/>
          </p:nvPr>
        </p:nvSpPr>
        <p:spPr/>
        <p:txBody>
          <a:bodyPr/>
          <a:lstStyle/>
          <a:p>
            <a:fld id="{6EAAD3C5-A402-4882-ADE9-65D998466B34}" type="datetime1">
              <a:rPr lang="ru-RU" smtClean="0"/>
              <a:t>22.09.2026</a:t>
            </a:fld>
            <a:endParaRPr lang="ru-RU"/>
          </a:p>
        </p:txBody>
      </p:sp>
      <p:sp>
        <p:nvSpPr>
          <p:cNvPr id="5" name="Нижний колонтитул 4">
            <a:extLst>
              <a:ext uri="{FF2B5EF4-FFF2-40B4-BE49-F238E27FC236}">
                <a16:creationId xmlns:a16="http://schemas.microsoft.com/office/drawing/2014/main" id="{D456693D-19E2-E7AF-040F-D2F8CA2DD784}"/>
              </a:ext>
            </a:extLst>
          </p:cNvPr>
          <p:cNvSpPr>
            <a:spLocks noGrp="1"/>
          </p:cNvSpPr>
          <p:nvPr>
            <p:ph type="ftr" sz="quarter" idx="11"/>
          </p:nvPr>
        </p:nvSpPr>
        <p:spPr/>
        <p:txBody>
          <a:bodyPr/>
          <a:lstStyle/>
          <a:p>
            <a:r>
              <a:rPr lang="ru-RU"/>
              <a:t>Вмешательство государства </a:t>
            </a:r>
          </a:p>
        </p:txBody>
      </p:sp>
      <p:sp>
        <p:nvSpPr>
          <p:cNvPr id="6" name="Номер слайда 5">
            <a:extLst>
              <a:ext uri="{FF2B5EF4-FFF2-40B4-BE49-F238E27FC236}">
                <a16:creationId xmlns:a16="http://schemas.microsoft.com/office/drawing/2014/main" id="{3C3A6361-7062-A98E-58EE-C6E2A0492DD8}"/>
              </a:ext>
            </a:extLst>
          </p:cNvPr>
          <p:cNvSpPr>
            <a:spLocks noGrp="1"/>
          </p:cNvSpPr>
          <p:nvPr>
            <p:ph type="sldNum" sz="quarter" idx="12"/>
          </p:nvPr>
        </p:nvSpPr>
        <p:spPr/>
        <p:txBody>
          <a:bodyPr/>
          <a:lstStyle/>
          <a:p>
            <a:fld id="{23F470E1-E072-4587-920D-844ED8D976FF}" type="slidenum">
              <a:rPr lang="ru-RU" smtClean="0"/>
              <a:t>‹#›</a:t>
            </a:fld>
            <a:endParaRPr lang="ru-RU"/>
          </a:p>
        </p:txBody>
      </p:sp>
    </p:spTree>
    <p:extLst>
      <p:ext uri="{BB962C8B-B14F-4D97-AF65-F5344CB8AC3E}">
        <p14:creationId xmlns:p14="http://schemas.microsoft.com/office/powerpoint/2010/main" val="1251729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0DB0B06-886F-2E5B-B0E0-8C55CFE9EFE1}"/>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1154D61D-98F4-F7AC-8192-5C92F9C8F388}"/>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2CE9AA90-2431-1491-7AD8-DA3BB469F422}"/>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5CECCFCC-ADC8-74D9-9E06-0AFED2BC42A7}"/>
              </a:ext>
            </a:extLst>
          </p:cNvPr>
          <p:cNvSpPr>
            <a:spLocks noGrp="1"/>
          </p:cNvSpPr>
          <p:nvPr>
            <p:ph type="dt" sz="half" idx="10"/>
          </p:nvPr>
        </p:nvSpPr>
        <p:spPr/>
        <p:txBody>
          <a:bodyPr/>
          <a:lstStyle/>
          <a:p>
            <a:fld id="{12D976EB-8805-4AA5-9D4F-40A92078F717}" type="datetime1">
              <a:rPr lang="ru-RU" smtClean="0"/>
              <a:t>22.09.2026</a:t>
            </a:fld>
            <a:endParaRPr lang="ru-RU"/>
          </a:p>
        </p:txBody>
      </p:sp>
      <p:sp>
        <p:nvSpPr>
          <p:cNvPr id="6" name="Нижний колонтитул 5">
            <a:extLst>
              <a:ext uri="{FF2B5EF4-FFF2-40B4-BE49-F238E27FC236}">
                <a16:creationId xmlns:a16="http://schemas.microsoft.com/office/drawing/2014/main" id="{9E4B573D-56F0-38E4-FA86-DB51AC11AE71}"/>
              </a:ext>
            </a:extLst>
          </p:cNvPr>
          <p:cNvSpPr>
            <a:spLocks noGrp="1"/>
          </p:cNvSpPr>
          <p:nvPr>
            <p:ph type="ftr" sz="quarter" idx="11"/>
          </p:nvPr>
        </p:nvSpPr>
        <p:spPr/>
        <p:txBody>
          <a:bodyPr/>
          <a:lstStyle/>
          <a:p>
            <a:r>
              <a:rPr lang="ru-RU"/>
              <a:t>Вмешательство государства </a:t>
            </a:r>
          </a:p>
        </p:txBody>
      </p:sp>
      <p:sp>
        <p:nvSpPr>
          <p:cNvPr id="7" name="Номер слайда 6">
            <a:extLst>
              <a:ext uri="{FF2B5EF4-FFF2-40B4-BE49-F238E27FC236}">
                <a16:creationId xmlns:a16="http://schemas.microsoft.com/office/drawing/2014/main" id="{E254463C-3E06-B845-7FBC-F34108AE8373}"/>
              </a:ext>
            </a:extLst>
          </p:cNvPr>
          <p:cNvSpPr>
            <a:spLocks noGrp="1"/>
          </p:cNvSpPr>
          <p:nvPr>
            <p:ph type="sldNum" sz="quarter" idx="12"/>
          </p:nvPr>
        </p:nvSpPr>
        <p:spPr/>
        <p:txBody>
          <a:bodyPr/>
          <a:lstStyle/>
          <a:p>
            <a:fld id="{23F470E1-E072-4587-920D-844ED8D976FF}" type="slidenum">
              <a:rPr lang="ru-RU" smtClean="0"/>
              <a:t>‹#›</a:t>
            </a:fld>
            <a:endParaRPr lang="ru-RU"/>
          </a:p>
        </p:txBody>
      </p:sp>
    </p:spTree>
    <p:extLst>
      <p:ext uri="{BB962C8B-B14F-4D97-AF65-F5344CB8AC3E}">
        <p14:creationId xmlns:p14="http://schemas.microsoft.com/office/powerpoint/2010/main" val="3435018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3A2DBE-868D-3A26-598E-667103D49BC8}"/>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15FFDF46-2C52-E019-D894-AA1AFBC014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0B932019-D933-4E4F-73C8-1066D1D54B03}"/>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91184A5A-7734-0127-520D-A647D2E94D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932E05FB-A8F5-E6E7-C366-82B1648F80C3}"/>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D28E7EFE-6B60-9CAA-E737-829FBCA03294}"/>
              </a:ext>
            </a:extLst>
          </p:cNvPr>
          <p:cNvSpPr>
            <a:spLocks noGrp="1"/>
          </p:cNvSpPr>
          <p:nvPr>
            <p:ph type="dt" sz="half" idx="10"/>
          </p:nvPr>
        </p:nvSpPr>
        <p:spPr/>
        <p:txBody>
          <a:bodyPr/>
          <a:lstStyle/>
          <a:p>
            <a:fld id="{2D466A7E-C697-4AAD-8121-83192304BB8F}" type="datetime1">
              <a:rPr lang="ru-RU" smtClean="0"/>
              <a:t>22.09.2026</a:t>
            </a:fld>
            <a:endParaRPr lang="ru-RU"/>
          </a:p>
        </p:txBody>
      </p:sp>
      <p:sp>
        <p:nvSpPr>
          <p:cNvPr id="8" name="Нижний колонтитул 7">
            <a:extLst>
              <a:ext uri="{FF2B5EF4-FFF2-40B4-BE49-F238E27FC236}">
                <a16:creationId xmlns:a16="http://schemas.microsoft.com/office/drawing/2014/main" id="{80572630-7045-1799-FB2C-8F7A7CD5C662}"/>
              </a:ext>
            </a:extLst>
          </p:cNvPr>
          <p:cNvSpPr>
            <a:spLocks noGrp="1"/>
          </p:cNvSpPr>
          <p:nvPr>
            <p:ph type="ftr" sz="quarter" idx="11"/>
          </p:nvPr>
        </p:nvSpPr>
        <p:spPr/>
        <p:txBody>
          <a:bodyPr/>
          <a:lstStyle/>
          <a:p>
            <a:r>
              <a:rPr lang="ru-RU"/>
              <a:t>Вмешательство государства </a:t>
            </a:r>
          </a:p>
        </p:txBody>
      </p:sp>
      <p:sp>
        <p:nvSpPr>
          <p:cNvPr id="9" name="Номер слайда 8">
            <a:extLst>
              <a:ext uri="{FF2B5EF4-FFF2-40B4-BE49-F238E27FC236}">
                <a16:creationId xmlns:a16="http://schemas.microsoft.com/office/drawing/2014/main" id="{7F7D1A63-8457-B76A-3CF8-E324B72B908A}"/>
              </a:ext>
            </a:extLst>
          </p:cNvPr>
          <p:cNvSpPr>
            <a:spLocks noGrp="1"/>
          </p:cNvSpPr>
          <p:nvPr>
            <p:ph type="sldNum" sz="quarter" idx="12"/>
          </p:nvPr>
        </p:nvSpPr>
        <p:spPr/>
        <p:txBody>
          <a:bodyPr/>
          <a:lstStyle/>
          <a:p>
            <a:fld id="{23F470E1-E072-4587-920D-844ED8D976FF}" type="slidenum">
              <a:rPr lang="ru-RU" smtClean="0"/>
              <a:t>‹#›</a:t>
            </a:fld>
            <a:endParaRPr lang="ru-RU"/>
          </a:p>
        </p:txBody>
      </p:sp>
    </p:spTree>
    <p:extLst>
      <p:ext uri="{BB962C8B-B14F-4D97-AF65-F5344CB8AC3E}">
        <p14:creationId xmlns:p14="http://schemas.microsoft.com/office/powerpoint/2010/main" val="3973355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646D55-DBBD-1B4F-933D-89420DAB3589}"/>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F6717504-4D41-0DDC-A1BA-71A055799216}"/>
              </a:ext>
            </a:extLst>
          </p:cNvPr>
          <p:cNvSpPr>
            <a:spLocks noGrp="1"/>
          </p:cNvSpPr>
          <p:nvPr>
            <p:ph type="dt" sz="half" idx="10"/>
          </p:nvPr>
        </p:nvSpPr>
        <p:spPr/>
        <p:txBody>
          <a:bodyPr/>
          <a:lstStyle/>
          <a:p>
            <a:fld id="{D766CEED-8BB4-494F-94A4-DD6CF9DA5617}" type="datetime1">
              <a:rPr lang="ru-RU" smtClean="0"/>
              <a:t>22.09.2026</a:t>
            </a:fld>
            <a:endParaRPr lang="ru-RU"/>
          </a:p>
        </p:txBody>
      </p:sp>
      <p:sp>
        <p:nvSpPr>
          <p:cNvPr id="4" name="Нижний колонтитул 3">
            <a:extLst>
              <a:ext uri="{FF2B5EF4-FFF2-40B4-BE49-F238E27FC236}">
                <a16:creationId xmlns:a16="http://schemas.microsoft.com/office/drawing/2014/main" id="{9661CDBE-8068-CEC7-BC40-ED37DDB71A53}"/>
              </a:ext>
            </a:extLst>
          </p:cNvPr>
          <p:cNvSpPr>
            <a:spLocks noGrp="1"/>
          </p:cNvSpPr>
          <p:nvPr>
            <p:ph type="ftr" sz="quarter" idx="11"/>
          </p:nvPr>
        </p:nvSpPr>
        <p:spPr/>
        <p:txBody>
          <a:bodyPr/>
          <a:lstStyle/>
          <a:p>
            <a:r>
              <a:rPr lang="ru-RU"/>
              <a:t>Вмешательство государства </a:t>
            </a:r>
          </a:p>
        </p:txBody>
      </p:sp>
      <p:sp>
        <p:nvSpPr>
          <p:cNvPr id="5" name="Номер слайда 4">
            <a:extLst>
              <a:ext uri="{FF2B5EF4-FFF2-40B4-BE49-F238E27FC236}">
                <a16:creationId xmlns:a16="http://schemas.microsoft.com/office/drawing/2014/main" id="{61DF7582-D951-A0CE-D76F-3347BD0702CD}"/>
              </a:ext>
            </a:extLst>
          </p:cNvPr>
          <p:cNvSpPr>
            <a:spLocks noGrp="1"/>
          </p:cNvSpPr>
          <p:nvPr>
            <p:ph type="sldNum" sz="quarter" idx="12"/>
          </p:nvPr>
        </p:nvSpPr>
        <p:spPr/>
        <p:txBody>
          <a:bodyPr/>
          <a:lstStyle/>
          <a:p>
            <a:fld id="{23F470E1-E072-4587-920D-844ED8D976FF}" type="slidenum">
              <a:rPr lang="ru-RU" smtClean="0"/>
              <a:t>‹#›</a:t>
            </a:fld>
            <a:endParaRPr lang="ru-RU"/>
          </a:p>
        </p:txBody>
      </p:sp>
    </p:spTree>
    <p:extLst>
      <p:ext uri="{BB962C8B-B14F-4D97-AF65-F5344CB8AC3E}">
        <p14:creationId xmlns:p14="http://schemas.microsoft.com/office/powerpoint/2010/main" val="4017603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9F782BD0-990B-817A-F6C7-704A6F5D6D86}"/>
              </a:ext>
            </a:extLst>
          </p:cNvPr>
          <p:cNvSpPr>
            <a:spLocks noGrp="1"/>
          </p:cNvSpPr>
          <p:nvPr>
            <p:ph type="dt" sz="half" idx="10"/>
          </p:nvPr>
        </p:nvSpPr>
        <p:spPr/>
        <p:txBody>
          <a:bodyPr/>
          <a:lstStyle/>
          <a:p>
            <a:fld id="{D5E73619-BD66-4CF7-AB7C-27110B948269}" type="datetime1">
              <a:rPr lang="ru-RU" smtClean="0"/>
              <a:t>22.09.2026</a:t>
            </a:fld>
            <a:endParaRPr lang="ru-RU"/>
          </a:p>
        </p:txBody>
      </p:sp>
      <p:sp>
        <p:nvSpPr>
          <p:cNvPr id="3" name="Нижний колонтитул 2">
            <a:extLst>
              <a:ext uri="{FF2B5EF4-FFF2-40B4-BE49-F238E27FC236}">
                <a16:creationId xmlns:a16="http://schemas.microsoft.com/office/drawing/2014/main" id="{13988DEC-8547-09E4-A193-AAC942DD1347}"/>
              </a:ext>
            </a:extLst>
          </p:cNvPr>
          <p:cNvSpPr>
            <a:spLocks noGrp="1"/>
          </p:cNvSpPr>
          <p:nvPr>
            <p:ph type="ftr" sz="quarter" idx="11"/>
          </p:nvPr>
        </p:nvSpPr>
        <p:spPr/>
        <p:txBody>
          <a:bodyPr/>
          <a:lstStyle/>
          <a:p>
            <a:r>
              <a:rPr lang="ru-RU"/>
              <a:t>Вмешательство государства </a:t>
            </a:r>
          </a:p>
        </p:txBody>
      </p:sp>
      <p:sp>
        <p:nvSpPr>
          <p:cNvPr id="4" name="Номер слайда 3">
            <a:extLst>
              <a:ext uri="{FF2B5EF4-FFF2-40B4-BE49-F238E27FC236}">
                <a16:creationId xmlns:a16="http://schemas.microsoft.com/office/drawing/2014/main" id="{3B8B67B6-FB7F-4B11-ED45-7CC7E921120E}"/>
              </a:ext>
            </a:extLst>
          </p:cNvPr>
          <p:cNvSpPr>
            <a:spLocks noGrp="1"/>
          </p:cNvSpPr>
          <p:nvPr>
            <p:ph type="sldNum" sz="quarter" idx="12"/>
          </p:nvPr>
        </p:nvSpPr>
        <p:spPr/>
        <p:txBody>
          <a:bodyPr/>
          <a:lstStyle/>
          <a:p>
            <a:fld id="{23F470E1-E072-4587-920D-844ED8D976FF}" type="slidenum">
              <a:rPr lang="ru-RU" smtClean="0"/>
              <a:t>‹#›</a:t>
            </a:fld>
            <a:endParaRPr lang="ru-RU"/>
          </a:p>
        </p:txBody>
      </p:sp>
    </p:spTree>
    <p:extLst>
      <p:ext uri="{BB962C8B-B14F-4D97-AF65-F5344CB8AC3E}">
        <p14:creationId xmlns:p14="http://schemas.microsoft.com/office/powerpoint/2010/main" val="2449968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58BE52B-43BE-8CE0-7F30-5990344FC403}"/>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D01EAF72-45CA-38CD-500E-6B7AC32F11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A75C8D04-E8CE-6F5A-D52D-1000E258C3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42253B1-9E1C-A64B-764B-687C063FC899}"/>
              </a:ext>
            </a:extLst>
          </p:cNvPr>
          <p:cNvSpPr>
            <a:spLocks noGrp="1"/>
          </p:cNvSpPr>
          <p:nvPr>
            <p:ph type="dt" sz="half" idx="10"/>
          </p:nvPr>
        </p:nvSpPr>
        <p:spPr/>
        <p:txBody>
          <a:bodyPr/>
          <a:lstStyle/>
          <a:p>
            <a:fld id="{BFECD2CC-44F1-448C-9D8B-5C90C64B416A}" type="datetime1">
              <a:rPr lang="ru-RU" smtClean="0"/>
              <a:t>22.09.2026</a:t>
            </a:fld>
            <a:endParaRPr lang="ru-RU"/>
          </a:p>
        </p:txBody>
      </p:sp>
      <p:sp>
        <p:nvSpPr>
          <p:cNvPr id="6" name="Нижний колонтитул 5">
            <a:extLst>
              <a:ext uri="{FF2B5EF4-FFF2-40B4-BE49-F238E27FC236}">
                <a16:creationId xmlns:a16="http://schemas.microsoft.com/office/drawing/2014/main" id="{9A1E8624-E062-E3B7-9766-1A9228B2FA4E}"/>
              </a:ext>
            </a:extLst>
          </p:cNvPr>
          <p:cNvSpPr>
            <a:spLocks noGrp="1"/>
          </p:cNvSpPr>
          <p:nvPr>
            <p:ph type="ftr" sz="quarter" idx="11"/>
          </p:nvPr>
        </p:nvSpPr>
        <p:spPr/>
        <p:txBody>
          <a:bodyPr/>
          <a:lstStyle/>
          <a:p>
            <a:r>
              <a:rPr lang="ru-RU"/>
              <a:t>Вмешательство государства </a:t>
            </a:r>
          </a:p>
        </p:txBody>
      </p:sp>
      <p:sp>
        <p:nvSpPr>
          <p:cNvPr id="7" name="Номер слайда 6">
            <a:extLst>
              <a:ext uri="{FF2B5EF4-FFF2-40B4-BE49-F238E27FC236}">
                <a16:creationId xmlns:a16="http://schemas.microsoft.com/office/drawing/2014/main" id="{3147F623-22CF-8738-513D-3E78434F5FAB}"/>
              </a:ext>
            </a:extLst>
          </p:cNvPr>
          <p:cNvSpPr>
            <a:spLocks noGrp="1"/>
          </p:cNvSpPr>
          <p:nvPr>
            <p:ph type="sldNum" sz="quarter" idx="12"/>
          </p:nvPr>
        </p:nvSpPr>
        <p:spPr/>
        <p:txBody>
          <a:bodyPr/>
          <a:lstStyle/>
          <a:p>
            <a:fld id="{23F470E1-E072-4587-920D-844ED8D976FF}" type="slidenum">
              <a:rPr lang="ru-RU" smtClean="0"/>
              <a:t>‹#›</a:t>
            </a:fld>
            <a:endParaRPr lang="ru-RU"/>
          </a:p>
        </p:txBody>
      </p:sp>
    </p:spTree>
    <p:extLst>
      <p:ext uri="{BB962C8B-B14F-4D97-AF65-F5344CB8AC3E}">
        <p14:creationId xmlns:p14="http://schemas.microsoft.com/office/powerpoint/2010/main" val="1921336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17BC47-B105-383C-11DE-027538F7DAC7}"/>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49835F2E-FA3A-AC84-57E1-3764F52D70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CDC02E67-EBEC-AF78-BF22-911038FB50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C4569521-F27F-164D-1CE3-D04D23493052}"/>
              </a:ext>
            </a:extLst>
          </p:cNvPr>
          <p:cNvSpPr>
            <a:spLocks noGrp="1"/>
          </p:cNvSpPr>
          <p:nvPr>
            <p:ph type="dt" sz="half" idx="10"/>
          </p:nvPr>
        </p:nvSpPr>
        <p:spPr/>
        <p:txBody>
          <a:bodyPr/>
          <a:lstStyle/>
          <a:p>
            <a:fld id="{882D7065-96A1-45E2-BC7D-0B1E1D41BFED}" type="datetime1">
              <a:rPr lang="ru-RU" smtClean="0"/>
              <a:t>22.09.2026</a:t>
            </a:fld>
            <a:endParaRPr lang="ru-RU"/>
          </a:p>
        </p:txBody>
      </p:sp>
      <p:sp>
        <p:nvSpPr>
          <p:cNvPr id="6" name="Нижний колонтитул 5">
            <a:extLst>
              <a:ext uri="{FF2B5EF4-FFF2-40B4-BE49-F238E27FC236}">
                <a16:creationId xmlns:a16="http://schemas.microsoft.com/office/drawing/2014/main" id="{E284BDE5-A10B-02C6-CC3A-995F1574780A}"/>
              </a:ext>
            </a:extLst>
          </p:cNvPr>
          <p:cNvSpPr>
            <a:spLocks noGrp="1"/>
          </p:cNvSpPr>
          <p:nvPr>
            <p:ph type="ftr" sz="quarter" idx="11"/>
          </p:nvPr>
        </p:nvSpPr>
        <p:spPr/>
        <p:txBody>
          <a:bodyPr/>
          <a:lstStyle/>
          <a:p>
            <a:r>
              <a:rPr lang="ru-RU"/>
              <a:t>Вмешательство государства </a:t>
            </a:r>
          </a:p>
        </p:txBody>
      </p:sp>
      <p:sp>
        <p:nvSpPr>
          <p:cNvPr id="7" name="Номер слайда 6">
            <a:extLst>
              <a:ext uri="{FF2B5EF4-FFF2-40B4-BE49-F238E27FC236}">
                <a16:creationId xmlns:a16="http://schemas.microsoft.com/office/drawing/2014/main" id="{BDFE7549-09C6-2204-10AC-2C6BA331EBFA}"/>
              </a:ext>
            </a:extLst>
          </p:cNvPr>
          <p:cNvSpPr>
            <a:spLocks noGrp="1"/>
          </p:cNvSpPr>
          <p:nvPr>
            <p:ph type="sldNum" sz="quarter" idx="12"/>
          </p:nvPr>
        </p:nvSpPr>
        <p:spPr/>
        <p:txBody>
          <a:bodyPr/>
          <a:lstStyle/>
          <a:p>
            <a:fld id="{23F470E1-E072-4587-920D-844ED8D976FF}" type="slidenum">
              <a:rPr lang="ru-RU" smtClean="0"/>
              <a:t>‹#›</a:t>
            </a:fld>
            <a:endParaRPr lang="ru-RU"/>
          </a:p>
        </p:txBody>
      </p:sp>
    </p:spTree>
    <p:extLst>
      <p:ext uri="{BB962C8B-B14F-4D97-AF65-F5344CB8AC3E}">
        <p14:creationId xmlns:p14="http://schemas.microsoft.com/office/powerpoint/2010/main" val="669534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5281F0-45B4-98A9-BDED-8D4EAD89CDF6}"/>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AD789B5F-C228-DCBD-38D6-2439D013E4A4}"/>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7EAAE0C4-0ED1-5BB7-CAB9-7A676FFB66E1}"/>
              </a:ext>
            </a:extLst>
          </p:cNvPr>
          <p:cNvSpPr>
            <a:spLocks noGrp="1"/>
          </p:cNvSpPr>
          <p:nvPr>
            <p:ph type="dt" sz="half" idx="10"/>
          </p:nvPr>
        </p:nvSpPr>
        <p:spPr/>
        <p:txBody>
          <a:bodyPr/>
          <a:lstStyle/>
          <a:p>
            <a:fld id="{A5363E00-DBEA-46CC-A027-2892F287789B}" type="datetime1">
              <a:rPr lang="ru-RU" smtClean="0"/>
              <a:t>22.09.2026</a:t>
            </a:fld>
            <a:endParaRPr lang="ru-RU"/>
          </a:p>
        </p:txBody>
      </p:sp>
      <p:sp>
        <p:nvSpPr>
          <p:cNvPr id="5" name="Нижний колонтитул 4">
            <a:extLst>
              <a:ext uri="{FF2B5EF4-FFF2-40B4-BE49-F238E27FC236}">
                <a16:creationId xmlns:a16="http://schemas.microsoft.com/office/drawing/2014/main" id="{4F8669DD-DCDC-16F6-5329-78A89EF38EAF}"/>
              </a:ext>
            </a:extLst>
          </p:cNvPr>
          <p:cNvSpPr>
            <a:spLocks noGrp="1"/>
          </p:cNvSpPr>
          <p:nvPr>
            <p:ph type="ftr" sz="quarter" idx="11"/>
          </p:nvPr>
        </p:nvSpPr>
        <p:spPr/>
        <p:txBody>
          <a:bodyPr/>
          <a:lstStyle/>
          <a:p>
            <a:r>
              <a:rPr lang="ru-RU"/>
              <a:t>Вмешательство государства </a:t>
            </a:r>
          </a:p>
        </p:txBody>
      </p:sp>
      <p:sp>
        <p:nvSpPr>
          <p:cNvPr id="6" name="Номер слайда 5">
            <a:extLst>
              <a:ext uri="{FF2B5EF4-FFF2-40B4-BE49-F238E27FC236}">
                <a16:creationId xmlns:a16="http://schemas.microsoft.com/office/drawing/2014/main" id="{BAF36F59-E9D0-07F3-DF57-1BDC7E577A1A}"/>
              </a:ext>
            </a:extLst>
          </p:cNvPr>
          <p:cNvSpPr>
            <a:spLocks noGrp="1"/>
          </p:cNvSpPr>
          <p:nvPr>
            <p:ph type="sldNum" sz="quarter" idx="12"/>
          </p:nvPr>
        </p:nvSpPr>
        <p:spPr/>
        <p:txBody>
          <a:bodyPr/>
          <a:lstStyle/>
          <a:p>
            <a:fld id="{23F470E1-E072-4587-920D-844ED8D976FF}" type="slidenum">
              <a:rPr lang="ru-RU" smtClean="0"/>
              <a:t>‹#›</a:t>
            </a:fld>
            <a:endParaRPr lang="ru-RU"/>
          </a:p>
        </p:txBody>
      </p:sp>
    </p:spTree>
    <p:extLst>
      <p:ext uri="{BB962C8B-B14F-4D97-AF65-F5344CB8AC3E}">
        <p14:creationId xmlns:p14="http://schemas.microsoft.com/office/powerpoint/2010/main" val="4095610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EE7A0EAB-561A-0012-D734-0D47B980621A}"/>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1EDBCD91-FC5F-82B3-0A05-CF20F1E837DD}"/>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3DAD4F25-D0D8-19CC-6C18-746DBCD59BE7}"/>
              </a:ext>
            </a:extLst>
          </p:cNvPr>
          <p:cNvSpPr>
            <a:spLocks noGrp="1"/>
          </p:cNvSpPr>
          <p:nvPr>
            <p:ph type="dt" sz="half" idx="10"/>
          </p:nvPr>
        </p:nvSpPr>
        <p:spPr/>
        <p:txBody>
          <a:bodyPr/>
          <a:lstStyle/>
          <a:p>
            <a:fld id="{861F84BE-A9BE-430F-80FD-25D55D7852B4}" type="datetime1">
              <a:rPr lang="ru-RU" smtClean="0"/>
              <a:t>22.09.2026</a:t>
            </a:fld>
            <a:endParaRPr lang="ru-RU"/>
          </a:p>
        </p:txBody>
      </p:sp>
      <p:sp>
        <p:nvSpPr>
          <p:cNvPr id="5" name="Нижний колонтитул 4">
            <a:extLst>
              <a:ext uri="{FF2B5EF4-FFF2-40B4-BE49-F238E27FC236}">
                <a16:creationId xmlns:a16="http://schemas.microsoft.com/office/drawing/2014/main" id="{D10D4C2B-B516-B177-0C06-011A9DBF986A}"/>
              </a:ext>
            </a:extLst>
          </p:cNvPr>
          <p:cNvSpPr>
            <a:spLocks noGrp="1"/>
          </p:cNvSpPr>
          <p:nvPr>
            <p:ph type="ftr" sz="quarter" idx="11"/>
          </p:nvPr>
        </p:nvSpPr>
        <p:spPr/>
        <p:txBody>
          <a:bodyPr/>
          <a:lstStyle/>
          <a:p>
            <a:r>
              <a:rPr lang="ru-RU"/>
              <a:t>Вмешательство государства </a:t>
            </a:r>
          </a:p>
        </p:txBody>
      </p:sp>
      <p:sp>
        <p:nvSpPr>
          <p:cNvPr id="6" name="Номер слайда 5">
            <a:extLst>
              <a:ext uri="{FF2B5EF4-FFF2-40B4-BE49-F238E27FC236}">
                <a16:creationId xmlns:a16="http://schemas.microsoft.com/office/drawing/2014/main" id="{6E1F25E1-D1A8-6E0B-AD03-1BFFAF77D867}"/>
              </a:ext>
            </a:extLst>
          </p:cNvPr>
          <p:cNvSpPr>
            <a:spLocks noGrp="1"/>
          </p:cNvSpPr>
          <p:nvPr>
            <p:ph type="sldNum" sz="quarter" idx="12"/>
          </p:nvPr>
        </p:nvSpPr>
        <p:spPr/>
        <p:txBody>
          <a:bodyPr/>
          <a:lstStyle/>
          <a:p>
            <a:fld id="{23F470E1-E072-4587-920D-844ED8D976FF}" type="slidenum">
              <a:rPr lang="ru-RU" smtClean="0"/>
              <a:t>‹#›</a:t>
            </a:fld>
            <a:endParaRPr lang="ru-RU"/>
          </a:p>
        </p:txBody>
      </p:sp>
    </p:spTree>
    <p:extLst>
      <p:ext uri="{BB962C8B-B14F-4D97-AF65-F5344CB8AC3E}">
        <p14:creationId xmlns:p14="http://schemas.microsoft.com/office/powerpoint/2010/main" val="2790013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726D923-5FAB-544F-00D7-9336172510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A3C937E8-A97C-85C9-2671-2FB73E4A62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20B8014B-9B93-5CDC-A525-2EB3E3E3DB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C92F98-28DD-4A65-974A-9A505CFE2BA1}" type="datetime1">
              <a:rPr lang="ru-RU" smtClean="0"/>
              <a:t>22.09.2026</a:t>
            </a:fld>
            <a:endParaRPr lang="ru-RU"/>
          </a:p>
        </p:txBody>
      </p:sp>
      <p:sp>
        <p:nvSpPr>
          <p:cNvPr id="5" name="Нижний колонтитул 4">
            <a:extLst>
              <a:ext uri="{FF2B5EF4-FFF2-40B4-BE49-F238E27FC236}">
                <a16:creationId xmlns:a16="http://schemas.microsoft.com/office/drawing/2014/main" id="{85C089B8-FAD0-1E84-366B-FB8F31AA57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ru-RU"/>
              <a:t>Вмешательство государства </a:t>
            </a:r>
          </a:p>
        </p:txBody>
      </p:sp>
      <p:sp>
        <p:nvSpPr>
          <p:cNvPr id="6" name="Номер слайда 5">
            <a:extLst>
              <a:ext uri="{FF2B5EF4-FFF2-40B4-BE49-F238E27FC236}">
                <a16:creationId xmlns:a16="http://schemas.microsoft.com/office/drawing/2014/main" id="{876888AB-ECCD-BC37-204D-866341F2EA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F470E1-E072-4587-920D-844ED8D976FF}" type="slidenum">
              <a:rPr lang="ru-RU" smtClean="0"/>
              <a:t>‹#›</a:t>
            </a:fld>
            <a:endParaRPr lang="ru-RU"/>
          </a:p>
        </p:txBody>
      </p:sp>
    </p:spTree>
    <p:extLst>
      <p:ext uri="{BB962C8B-B14F-4D97-AF65-F5344CB8AC3E}">
        <p14:creationId xmlns:p14="http://schemas.microsoft.com/office/powerpoint/2010/main" val="29643251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customXml" Target="../ink/ink6.xml"/><Relationship Id="rId18" Type="http://schemas.openxmlformats.org/officeDocument/2006/relationships/image" Target="../media/image12.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9.png"/><Relationship Id="rId17" Type="http://schemas.openxmlformats.org/officeDocument/2006/relationships/customXml" Target="../ink/ink8.xml"/><Relationship Id="rId2" Type="http://schemas.openxmlformats.org/officeDocument/2006/relationships/image" Target="../media/image4.png"/><Relationship Id="rId16"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customXml" Target="../ink/ink4.xml"/><Relationship Id="rId1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AB9ED2B-9E06-F39B-E73F-55013CFA4BC3}"/>
              </a:ext>
            </a:extLst>
          </p:cNvPr>
          <p:cNvSpPr>
            <a:spLocks noGrp="1"/>
          </p:cNvSpPr>
          <p:nvPr>
            <p:ph type="ctrTitle"/>
          </p:nvPr>
        </p:nvSpPr>
        <p:spPr/>
        <p:txBody>
          <a:bodyPr/>
          <a:lstStyle/>
          <a:p>
            <a:r>
              <a:rPr lang="ru-RU" dirty="0"/>
              <a:t>Основы микроэкономики</a:t>
            </a:r>
            <a:br>
              <a:rPr lang="ru-RU" dirty="0"/>
            </a:br>
            <a:r>
              <a:rPr lang="ru-RU" dirty="0"/>
              <a:t>Налоговое бремя</a:t>
            </a:r>
          </a:p>
        </p:txBody>
      </p:sp>
      <p:sp>
        <p:nvSpPr>
          <p:cNvPr id="3" name="Подзаголовок 2">
            <a:extLst>
              <a:ext uri="{FF2B5EF4-FFF2-40B4-BE49-F238E27FC236}">
                <a16:creationId xmlns:a16="http://schemas.microsoft.com/office/drawing/2014/main" id="{EB42149F-AC14-C9A7-A8A8-05AB0C562D45}"/>
              </a:ext>
            </a:extLst>
          </p:cNvPr>
          <p:cNvSpPr>
            <a:spLocks noGrp="1"/>
          </p:cNvSpPr>
          <p:nvPr>
            <p:ph type="subTitle" idx="1"/>
          </p:nvPr>
        </p:nvSpPr>
        <p:spPr/>
        <p:txBody>
          <a:bodyPr/>
          <a:lstStyle/>
          <a:p>
            <a:r>
              <a:rPr lang="ru-RU" dirty="0"/>
              <a:t>Теория к </a:t>
            </a:r>
            <a:r>
              <a:rPr lang="ru-RU"/>
              <a:t>семинару 2</a:t>
            </a:r>
            <a:endParaRPr lang="ru-RU" dirty="0"/>
          </a:p>
        </p:txBody>
      </p:sp>
    </p:spTree>
    <p:extLst>
      <p:ext uri="{BB962C8B-B14F-4D97-AF65-F5344CB8AC3E}">
        <p14:creationId xmlns:p14="http://schemas.microsoft.com/office/powerpoint/2010/main" val="10839214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8764B92-FD22-3615-C3BA-6DFF9724E9D8}"/>
              </a:ext>
            </a:extLst>
          </p:cNvPr>
          <p:cNvSpPr>
            <a:spLocks noGrp="1"/>
          </p:cNvSpPr>
          <p:nvPr>
            <p:ph type="title"/>
          </p:nvPr>
        </p:nvSpPr>
        <p:spPr/>
        <p:txBody>
          <a:bodyPr/>
          <a:lstStyle/>
          <a:p>
            <a:r>
              <a:rPr lang="ru-RU" dirty="0"/>
              <a:t>Экономика без вмешательства государства</a:t>
            </a:r>
          </a:p>
        </p:txBody>
      </p:sp>
      <p:sp>
        <p:nvSpPr>
          <p:cNvPr id="3" name="Объект 2">
            <a:extLst>
              <a:ext uri="{FF2B5EF4-FFF2-40B4-BE49-F238E27FC236}">
                <a16:creationId xmlns:a16="http://schemas.microsoft.com/office/drawing/2014/main" id="{44208447-6FCA-328D-B6B8-3B441B583717}"/>
              </a:ext>
            </a:extLst>
          </p:cNvPr>
          <p:cNvSpPr>
            <a:spLocks noGrp="1"/>
          </p:cNvSpPr>
          <p:nvPr>
            <p:ph idx="1"/>
          </p:nvPr>
        </p:nvSpPr>
        <p:spPr>
          <a:xfrm>
            <a:off x="838200" y="1469628"/>
            <a:ext cx="10515600" cy="5023247"/>
          </a:xfrm>
        </p:spPr>
        <p:txBody>
          <a:bodyPr>
            <a:normAutofit/>
          </a:bodyPr>
          <a:lstStyle/>
          <a:p>
            <a:r>
              <a:rPr lang="ru-RU" sz="2200" dirty="0"/>
              <a:t>Как мы с вами знаем, в идеальном для экономистов мире (либертарианцев в том числе) государство не вмешивается в экономику.</a:t>
            </a:r>
          </a:p>
          <a:p>
            <a:r>
              <a:rPr lang="ru-RU" sz="2200" dirty="0"/>
              <a:t>В таком случае рынок работает сам собой, что позволяет достичь экономической эффективности</a:t>
            </a:r>
            <a:r>
              <a:rPr lang="en-US" sz="2200" dirty="0"/>
              <a:t> (</a:t>
            </a:r>
            <a:r>
              <a:rPr lang="ru-RU" sz="2200" dirty="0"/>
              <a:t>Парето-оптимума):</a:t>
            </a:r>
          </a:p>
          <a:p>
            <a:pPr lvl="1">
              <a:buFont typeface="Calibri" panose="020F0502020204030204" pitchFamily="34" charset="0"/>
              <a:buChar char="−"/>
            </a:pPr>
            <a:r>
              <a:rPr lang="ru-RU" sz="1800" dirty="0"/>
              <a:t>Потребители решают задачу максимизации полезности.</a:t>
            </a:r>
          </a:p>
          <a:p>
            <a:pPr lvl="1">
              <a:buFont typeface="Calibri" panose="020F0502020204030204" pitchFamily="34" charset="0"/>
              <a:buChar char="−"/>
            </a:pPr>
            <a:r>
              <a:rPr lang="ru-RU" sz="1800" dirty="0"/>
              <a:t>Производители решают задачу максимизации прибыли.</a:t>
            </a:r>
          </a:p>
          <a:p>
            <a:pPr lvl="1">
              <a:buFont typeface="Calibri" panose="020F0502020204030204" pitchFamily="34" charset="0"/>
              <a:buChar char="−"/>
            </a:pPr>
            <a:r>
              <a:rPr lang="ru-RU" sz="1800" dirty="0"/>
              <a:t>Вместе они встречаются на рынке, где первые формируют спрос относительно тех или иных товаров, а вторые – предложение товаров и услуг.</a:t>
            </a:r>
          </a:p>
          <a:p>
            <a:r>
              <a:rPr lang="ru-RU" sz="2200" dirty="0"/>
              <a:t>Спрос (</a:t>
            </a:r>
            <a:r>
              <a:rPr lang="en-US" sz="2200" dirty="0"/>
              <a:t>D)</a:t>
            </a:r>
            <a:r>
              <a:rPr lang="ru-RU" sz="2200" dirty="0"/>
              <a:t> и предложение</a:t>
            </a:r>
            <a:r>
              <a:rPr lang="en-US" sz="2200" dirty="0"/>
              <a:t> (S)</a:t>
            </a:r>
            <a:r>
              <a:rPr lang="ru-RU" sz="2200" dirty="0"/>
              <a:t> – это математические функции, которые описывают зависимость величины спроса и предложения от цены (или наоборот).</a:t>
            </a:r>
          </a:p>
          <a:p>
            <a:r>
              <a:rPr lang="ru-RU" sz="2200" dirty="0"/>
              <a:t>Таким образом, на рынке должна существовать комбинация (цена</a:t>
            </a:r>
            <a:r>
              <a:rPr lang="en-US" sz="2200" dirty="0"/>
              <a:t>;</a:t>
            </a:r>
            <a:r>
              <a:rPr lang="ru-RU" sz="2200" dirty="0"/>
              <a:t> количество), при которой спрос равен предложению. Эта ситуация называется рыночным равновесием</a:t>
            </a:r>
            <a:r>
              <a:rPr lang="en-US" sz="2200" dirty="0"/>
              <a:t>, </a:t>
            </a:r>
            <a:r>
              <a:rPr lang="ru-RU" sz="2200" dirty="0"/>
              <a:t>то есть спрос полностью удовлетворяется предложением и наоборот.</a:t>
            </a:r>
          </a:p>
        </p:txBody>
      </p:sp>
      <p:sp>
        <p:nvSpPr>
          <p:cNvPr id="4" name="TextBox 3">
            <a:extLst>
              <a:ext uri="{FF2B5EF4-FFF2-40B4-BE49-F238E27FC236}">
                <a16:creationId xmlns:a16="http://schemas.microsoft.com/office/drawing/2014/main" id="{3081777A-A273-D10D-1E41-E05622380BAD}"/>
              </a:ext>
            </a:extLst>
          </p:cNvPr>
          <p:cNvSpPr txBox="1"/>
          <p:nvPr/>
        </p:nvSpPr>
        <p:spPr>
          <a:xfrm>
            <a:off x="8656320" y="4649708"/>
            <a:ext cx="308098" cy="369332"/>
          </a:xfrm>
          <a:prstGeom prst="rect">
            <a:avLst/>
          </a:prstGeom>
          <a:noFill/>
        </p:spPr>
        <p:txBody>
          <a:bodyPr wrap="none" rtlCol="0">
            <a:spAutoFit/>
          </a:bodyPr>
          <a:lstStyle/>
          <a:p>
            <a:r>
              <a:rPr lang="en-US" b="1" dirty="0">
                <a:solidFill>
                  <a:srgbClr val="0070C0"/>
                </a:solidFill>
              </a:rPr>
              <a:t>P</a:t>
            </a:r>
            <a:endParaRPr lang="ru-RU" b="1" dirty="0">
              <a:solidFill>
                <a:srgbClr val="0070C0"/>
              </a:solidFill>
            </a:endParaRPr>
          </a:p>
        </p:txBody>
      </p:sp>
      <p:sp>
        <p:nvSpPr>
          <p:cNvPr id="5" name="TextBox 4">
            <a:extLst>
              <a:ext uri="{FF2B5EF4-FFF2-40B4-BE49-F238E27FC236}">
                <a16:creationId xmlns:a16="http://schemas.microsoft.com/office/drawing/2014/main" id="{84F3130B-6E73-4369-11A7-72685536C0B0}"/>
              </a:ext>
            </a:extLst>
          </p:cNvPr>
          <p:cNvSpPr txBox="1"/>
          <p:nvPr/>
        </p:nvSpPr>
        <p:spPr>
          <a:xfrm>
            <a:off x="9644063" y="4649708"/>
            <a:ext cx="343364" cy="369332"/>
          </a:xfrm>
          <a:prstGeom prst="rect">
            <a:avLst/>
          </a:prstGeom>
          <a:noFill/>
        </p:spPr>
        <p:txBody>
          <a:bodyPr wrap="none" rtlCol="0">
            <a:spAutoFit/>
          </a:bodyPr>
          <a:lstStyle/>
          <a:p>
            <a:r>
              <a:rPr lang="en-US" b="1" dirty="0">
                <a:solidFill>
                  <a:srgbClr val="0070C0"/>
                </a:solidFill>
              </a:rPr>
              <a:t>Q</a:t>
            </a:r>
            <a:endParaRPr lang="ru-RU" b="1" dirty="0">
              <a:solidFill>
                <a:srgbClr val="0070C0"/>
              </a:solidFill>
            </a:endParaRPr>
          </a:p>
        </p:txBody>
      </p:sp>
      <p:sp>
        <p:nvSpPr>
          <p:cNvPr id="6" name="Номер слайда 5">
            <a:extLst>
              <a:ext uri="{FF2B5EF4-FFF2-40B4-BE49-F238E27FC236}">
                <a16:creationId xmlns:a16="http://schemas.microsoft.com/office/drawing/2014/main" id="{09AD64F8-4FE6-67D4-82B2-9A522A4C8FD9}"/>
              </a:ext>
            </a:extLst>
          </p:cNvPr>
          <p:cNvSpPr>
            <a:spLocks noGrp="1"/>
          </p:cNvSpPr>
          <p:nvPr>
            <p:ph type="sldNum" sz="quarter" idx="12"/>
          </p:nvPr>
        </p:nvSpPr>
        <p:spPr/>
        <p:txBody>
          <a:bodyPr/>
          <a:lstStyle/>
          <a:p>
            <a:fld id="{23F470E1-E072-4587-920D-844ED8D976FF}" type="slidenum">
              <a:rPr lang="ru-RU" smtClean="0"/>
              <a:t>2</a:t>
            </a:fld>
            <a:endParaRPr lang="ru-RU"/>
          </a:p>
        </p:txBody>
      </p:sp>
    </p:spTree>
    <p:extLst>
      <p:ext uri="{BB962C8B-B14F-4D97-AF65-F5344CB8AC3E}">
        <p14:creationId xmlns:p14="http://schemas.microsoft.com/office/powerpoint/2010/main" val="1136320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8764B92-FD22-3615-C3BA-6DFF9724E9D8}"/>
              </a:ext>
            </a:extLst>
          </p:cNvPr>
          <p:cNvSpPr>
            <a:spLocks noGrp="1"/>
          </p:cNvSpPr>
          <p:nvPr>
            <p:ph type="title"/>
          </p:nvPr>
        </p:nvSpPr>
        <p:spPr/>
        <p:txBody>
          <a:bodyPr/>
          <a:lstStyle/>
          <a:p>
            <a:r>
              <a:rPr lang="ru-RU" dirty="0"/>
              <a:t>Спрос и предложение: формально</a:t>
            </a:r>
          </a:p>
        </p:txBody>
      </p:sp>
      <p:sp>
        <p:nvSpPr>
          <p:cNvPr id="3" name="Объект 2">
            <a:extLst>
              <a:ext uri="{FF2B5EF4-FFF2-40B4-BE49-F238E27FC236}">
                <a16:creationId xmlns:a16="http://schemas.microsoft.com/office/drawing/2014/main" id="{44208447-6FCA-328D-B6B8-3B441B583717}"/>
              </a:ext>
            </a:extLst>
          </p:cNvPr>
          <p:cNvSpPr>
            <a:spLocks noGrp="1"/>
          </p:cNvSpPr>
          <p:nvPr>
            <p:ph idx="1"/>
          </p:nvPr>
        </p:nvSpPr>
        <p:spPr>
          <a:xfrm>
            <a:off x="838199" y="1469628"/>
            <a:ext cx="5201071" cy="5114050"/>
          </a:xfrm>
        </p:spPr>
        <p:txBody>
          <a:bodyPr>
            <a:normAutofit lnSpcReduction="10000"/>
          </a:bodyPr>
          <a:lstStyle/>
          <a:p>
            <a:r>
              <a:rPr lang="ru-RU" sz="2200" dirty="0"/>
              <a:t>В данном случае </a:t>
            </a:r>
            <a:r>
              <a:rPr lang="en-US" sz="2200" dirty="0"/>
              <a:t>D </a:t>
            </a:r>
            <a:r>
              <a:rPr lang="ru-RU" sz="2200" dirty="0"/>
              <a:t>и </a:t>
            </a:r>
            <a:r>
              <a:rPr lang="en-US" sz="2200" dirty="0"/>
              <a:t>S </a:t>
            </a:r>
            <a:r>
              <a:rPr lang="ru-RU" sz="2200" dirty="0"/>
              <a:t>существуют на совершенно конкурентном рынке (бывают и другие) и выражены следующими простыми уравнениями:</a:t>
            </a:r>
          </a:p>
          <a:p>
            <a:pPr lvl="1">
              <a:buFont typeface="Calibri" panose="020F0502020204030204" pitchFamily="34" charset="0"/>
              <a:buChar char="−"/>
            </a:pPr>
            <a:r>
              <a:rPr lang="en-US" sz="1800" b="1" dirty="0">
                <a:solidFill>
                  <a:srgbClr val="C00000"/>
                </a:solidFill>
              </a:rPr>
              <a:t>D</a:t>
            </a:r>
            <a:r>
              <a:rPr lang="ru-RU" sz="1800" b="1" dirty="0">
                <a:solidFill>
                  <a:srgbClr val="C00000"/>
                </a:solidFill>
              </a:rPr>
              <a:t>: </a:t>
            </a:r>
            <a:r>
              <a:rPr lang="en-US" sz="1800" dirty="0"/>
              <a:t>P = a – b*Q</a:t>
            </a:r>
            <a:r>
              <a:rPr lang="ru-RU" sz="1800" dirty="0"/>
              <a:t> </a:t>
            </a:r>
          </a:p>
          <a:p>
            <a:pPr lvl="2"/>
            <a:r>
              <a:rPr lang="ru-RU" sz="1400" dirty="0"/>
              <a:t>Кривая спроса не просто так имеет отрицательный наклон: чисто логически большая цена =</a:t>
            </a:r>
            <a:r>
              <a:rPr lang="en-US" sz="1400" dirty="0"/>
              <a:t>&gt;</a:t>
            </a:r>
            <a:r>
              <a:rPr lang="ru-RU" sz="1400" dirty="0"/>
              <a:t> меньшая покупательная способность =</a:t>
            </a:r>
            <a:r>
              <a:rPr lang="en-US" sz="1400" dirty="0"/>
              <a:t>&gt;</a:t>
            </a:r>
            <a:r>
              <a:rPr lang="ru-RU" sz="1400" dirty="0"/>
              <a:t> снижение спроса.</a:t>
            </a:r>
            <a:endParaRPr lang="en-US" sz="1400" dirty="0"/>
          </a:p>
          <a:p>
            <a:pPr lvl="1">
              <a:buFont typeface="Calibri" panose="020F0502020204030204" pitchFamily="34" charset="0"/>
              <a:buChar char="−"/>
            </a:pPr>
            <a:r>
              <a:rPr lang="en-US" sz="1800" b="1" dirty="0">
                <a:solidFill>
                  <a:srgbClr val="C00000"/>
                </a:solidFill>
              </a:rPr>
              <a:t>S: </a:t>
            </a:r>
            <a:r>
              <a:rPr lang="en-US" sz="1800" dirty="0"/>
              <a:t>P = c + d*Q</a:t>
            </a:r>
            <a:endParaRPr lang="ru-RU" sz="1800" dirty="0"/>
          </a:p>
          <a:p>
            <a:r>
              <a:rPr lang="ru-RU" sz="2200" dirty="0"/>
              <a:t>Далее будем рассматривать такой же рынок, без монополий (спойлер, </a:t>
            </a:r>
            <a:r>
              <a:rPr lang="en-US" sz="2200" dirty="0"/>
              <a:t>DWL</a:t>
            </a:r>
            <a:r>
              <a:rPr lang="ru-RU" sz="2200" dirty="0"/>
              <a:t> появляется на любом рынке, кроме совершенно конкурентного без вмешательства государства).</a:t>
            </a:r>
            <a:endParaRPr lang="en-US" sz="2200" dirty="0"/>
          </a:p>
          <a:p>
            <a:r>
              <a:rPr lang="en-US" sz="2200" dirty="0"/>
              <a:t>(P*, Q*</a:t>
            </a:r>
            <a:r>
              <a:rPr lang="ru-RU" sz="2200" dirty="0"/>
              <a:t>) – равновесная комбинация цены и количества.</a:t>
            </a:r>
          </a:p>
        </p:txBody>
      </p:sp>
      <p:cxnSp>
        <p:nvCxnSpPr>
          <p:cNvPr id="7" name="Прямая со стрелкой 6">
            <a:extLst>
              <a:ext uri="{FF2B5EF4-FFF2-40B4-BE49-F238E27FC236}">
                <a16:creationId xmlns:a16="http://schemas.microsoft.com/office/drawing/2014/main" id="{B7CDE2AB-4F96-B9E9-85F5-15B49C117217}"/>
              </a:ext>
            </a:extLst>
          </p:cNvPr>
          <p:cNvCxnSpPr>
            <a:cxnSpLocks/>
          </p:cNvCxnSpPr>
          <p:nvPr/>
        </p:nvCxnSpPr>
        <p:spPr>
          <a:xfrm flipH="1" flipV="1">
            <a:off x="7132320" y="1991360"/>
            <a:ext cx="20320" cy="34101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Прямая со стрелкой 9">
            <a:extLst>
              <a:ext uri="{FF2B5EF4-FFF2-40B4-BE49-F238E27FC236}">
                <a16:creationId xmlns:a16="http://schemas.microsoft.com/office/drawing/2014/main" id="{6B81B6A7-4E8E-4E07-CE87-010D489267C9}"/>
              </a:ext>
            </a:extLst>
          </p:cNvPr>
          <p:cNvCxnSpPr>
            <a:cxnSpLocks/>
          </p:cNvCxnSpPr>
          <p:nvPr/>
        </p:nvCxnSpPr>
        <p:spPr>
          <a:xfrm>
            <a:off x="7152640" y="5401548"/>
            <a:ext cx="374904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EF33DD4C-BCAD-3F04-5768-6D55BE3D4285}"/>
              </a:ext>
            </a:extLst>
          </p:cNvPr>
          <p:cNvSpPr txBox="1"/>
          <p:nvPr/>
        </p:nvSpPr>
        <p:spPr>
          <a:xfrm>
            <a:off x="6998591" y="1656358"/>
            <a:ext cx="308098" cy="369332"/>
          </a:xfrm>
          <a:prstGeom prst="rect">
            <a:avLst/>
          </a:prstGeom>
          <a:noFill/>
        </p:spPr>
        <p:txBody>
          <a:bodyPr wrap="none" rtlCol="0">
            <a:spAutoFit/>
          </a:bodyPr>
          <a:lstStyle/>
          <a:p>
            <a:r>
              <a:rPr lang="en-US" b="1" dirty="0">
                <a:solidFill>
                  <a:srgbClr val="0070C0"/>
                </a:solidFill>
              </a:rPr>
              <a:t>P</a:t>
            </a:r>
            <a:endParaRPr lang="ru-RU" b="1" dirty="0">
              <a:solidFill>
                <a:srgbClr val="0070C0"/>
              </a:solidFill>
            </a:endParaRPr>
          </a:p>
        </p:txBody>
      </p:sp>
      <p:sp>
        <p:nvSpPr>
          <p:cNvPr id="16" name="TextBox 15">
            <a:extLst>
              <a:ext uri="{FF2B5EF4-FFF2-40B4-BE49-F238E27FC236}">
                <a16:creationId xmlns:a16="http://schemas.microsoft.com/office/drawing/2014/main" id="{A8060818-215A-04F3-393A-F0AC529E1A83}"/>
              </a:ext>
            </a:extLst>
          </p:cNvPr>
          <p:cNvSpPr txBox="1"/>
          <p:nvPr/>
        </p:nvSpPr>
        <p:spPr>
          <a:xfrm>
            <a:off x="10901680" y="5216882"/>
            <a:ext cx="343364" cy="369332"/>
          </a:xfrm>
          <a:prstGeom prst="rect">
            <a:avLst/>
          </a:prstGeom>
          <a:noFill/>
        </p:spPr>
        <p:txBody>
          <a:bodyPr wrap="none" rtlCol="0">
            <a:spAutoFit/>
          </a:bodyPr>
          <a:lstStyle/>
          <a:p>
            <a:r>
              <a:rPr lang="en-US" b="1" dirty="0">
                <a:solidFill>
                  <a:srgbClr val="0070C0"/>
                </a:solidFill>
              </a:rPr>
              <a:t>Q</a:t>
            </a:r>
            <a:endParaRPr lang="ru-RU" b="1" dirty="0">
              <a:solidFill>
                <a:srgbClr val="0070C0"/>
              </a:solidFill>
            </a:endParaRPr>
          </a:p>
        </p:txBody>
      </p:sp>
      <p:cxnSp>
        <p:nvCxnSpPr>
          <p:cNvPr id="18" name="Прямая соединительная линия 17">
            <a:extLst>
              <a:ext uri="{FF2B5EF4-FFF2-40B4-BE49-F238E27FC236}">
                <a16:creationId xmlns:a16="http://schemas.microsoft.com/office/drawing/2014/main" id="{9DD6B94D-274E-B49B-C2FD-A544C088DE06}"/>
              </a:ext>
            </a:extLst>
          </p:cNvPr>
          <p:cNvCxnSpPr/>
          <p:nvPr/>
        </p:nvCxnSpPr>
        <p:spPr>
          <a:xfrm flipV="1">
            <a:off x="7518400" y="2428240"/>
            <a:ext cx="2580640" cy="255016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2" name="Прямая соединительная линия 21">
            <a:extLst>
              <a:ext uri="{FF2B5EF4-FFF2-40B4-BE49-F238E27FC236}">
                <a16:creationId xmlns:a16="http://schemas.microsoft.com/office/drawing/2014/main" id="{651392EF-DD45-0116-C9AB-88A2AE4FEB8A}"/>
              </a:ext>
            </a:extLst>
          </p:cNvPr>
          <p:cNvCxnSpPr>
            <a:cxnSpLocks/>
          </p:cNvCxnSpPr>
          <p:nvPr/>
        </p:nvCxnSpPr>
        <p:spPr>
          <a:xfrm rot="16200000" flipV="1">
            <a:off x="7503160" y="2428240"/>
            <a:ext cx="2580640" cy="255016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6741099B-A1A4-65CE-6722-AA2882472B70}"/>
              </a:ext>
            </a:extLst>
          </p:cNvPr>
          <p:cNvSpPr txBox="1"/>
          <p:nvPr/>
        </p:nvSpPr>
        <p:spPr>
          <a:xfrm>
            <a:off x="7676013" y="2243575"/>
            <a:ext cx="330540" cy="369332"/>
          </a:xfrm>
          <a:prstGeom prst="rect">
            <a:avLst/>
          </a:prstGeom>
          <a:noFill/>
        </p:spPr>
        <p:txBody>
          <a:bodyPr wrap="none" rtlCol="0">
            <a:spAutoFit/>
          </a:bodyPr>
          <a:lstStyle/>
          <a:p>
            <a:r>
              <a:rPr lang="en-US" b="1" dirty="0">
                <a:solidFill>
                  <a:srgbClr val="C00000"/>
                </a:solidFill>
              </a:rPr>
              <a:t>D</a:t>
            </a:r>
            <a:endParaRPr lang="ru-RU" b="1" dirty="0">
              <a:solidFill>
                <a:srgbClr val="C00000"/>
              </a:solidFill>
            </a:endParaRPr>
          </a:p>
        </p:txBody>
      </p:sp>
      <p:sp>
        <p:nvSpPr>
          <p:cNvPr id="24" name="TextBox 23">
            <a:extLst>
              <a:ext uri="{FF2B5EF4-FFF2-40B4-BE49-F238E27FC236}">
                <a16:creationId xmlns:a16="http://schemas.microsoft.com/office/drawing/2014/main" id="{6B6903CF-895F-9D7A-EDA1-338C3E799296}"/>
              </a:ext>
            </a:extLst>
          </p:cNvPr>
          <p:cNvSpPr txBox="1"/>
          <p:nvPr/>
        </p:nvSpPr>
        <p:spPr>
          <a:xfrm>
            <a:off x="9643295" y="2228334"/>
            <a:ext cx="293670" cy="369332"/>
          </a:xfrm>
          <a:prstGeom prst="rect">
            <a:avLst/>
          </a:prstGeom>
          <a:noFill/>
        </p:spPr>
        <p:txBody>
          <a:bodyPr wrap="none" rtlCol="0">
            <a:spAutoFit/>
          </a:bodyPr>
          <a:lstStyle/>
          <a:p>
            <a:r>
              <a:rPr lang="en-US" b="1" dirty="0">
                <a:solidFill>
                  <a:srgbClr val="C00000"/>
                </a:solidFill>
              </a:rPr>
              <a:t>S</a:t>
            </a:r>
            <a:endParaRPr lang="ru-RU" b="1" dirty="0">
              <a:solidFill>
                <a:srgbClr val="C00000"/>
              </a:solidFill>
            </a:endParaRPr>
          </a:p>
        </p:txBody>
      </p:sp>
      <p:sp>
        <p:nvSpPr>
          <p:cNvPr id="25" name="Овал 24">
            <a:extLst>
              <a:ext uri="{FF2B5EF4-FFF2-40B4-BE49-F238E27FC236}">
                <a16:creationId xmlns:a16="http://schemas.microsoft.com/office/drawing/2014/main" id="{459CD14C-FDD1-BAE7-60B9-18BC9072E97F}"/>
              </a:ext>
            </a:extLst>
          </p:cNvPr>
          <p:cNvSpPr/>
          <p:nvPr/>
        </p:nvSpPr>
        <p:spPr>
          <a:xfrm>
            <a:off x="8737160" y="3640134"/>
            <a:ext cx="108000" cy="108000"/>
          </a:xfrm>
          <a:prstGeom prst="ellips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7" name="Прямая со стрелкой 26">
            <a:extLst>
              <a:ext uri="{FF2B5EF4-FFF2-40B4-BE49-F238E27FC236}">
                <a16:creationId xmlns:a16="http://schemas.microsoft.com/office/drawing/2014/main" id="{9E6945C8-5863-C1FE-62E9-EF86079A7378}"/>
              </a:ext>
            </a:extLst>
          </p:cNvPr>
          <p:cNvCxnSpPr/>
          <p:nvPr/>
        </p:nvCxnSpPr>
        <p:spPr>
          <a:xfrm>
            <a:off x="8791160" y="3068320"/>
            <a:ext cx="0" cy="4114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92B5CB70-4DFC-82B2-A24D-747391E1EBCE}"/>
              </a:ext>
            </a:extLst>
          </p:cNvPr>
          <p:cNvSpPr txBox="1"/>
          <p:nvPr/>
        </p:nvSpPr>
        <p:spPr>
          <a:xfrm>
            <a:off x="8038585" y="2800585"/>
            <a:ext cx="1545790" cy="307777"/>
          </a:xfrm>
          <a:prstGeom prst="rect">
            <a:avLst/>
          </a:prstGeom>
          <a:noFill/>
        </p:spPr>
        <p:txBody>
          <a:bodyPr wrap="square">
            <a:spAutoFit/>
          </a:bodyPr>
          <a:lstStyle/>
          <a:p>
            <a:r>
              <a:rPr lang="ru-RU" sz="1400" dirty="0"/>
              <a:t>Точка равновесия</a:t>
            </a:r>
          </a:p>
        </p:txBody>
      </p:sp>
      <p:cxnSp>
        <p:nvCxnSpPr>
          <p:cNvPr id="31" name="Прямая соединительная линия 30">
            <a:extLst>
              <a:ext uri="{FF2B5EF4-FFF2-40B4-BE49-F238E27FC236}">
                <a16:creationId xmlns:a16="http://schemas.microsoft.com/office/drawing/2014/main" id="{B0F323D3-4FA1-E86D-6E5E-549312D8A39B}"/>
              </a:ext>
            </a:extLst>
          </p:cNvPr>
          <p:cNvCxnSpPr>
            <a:cxnSpLocks/>
          </p:cNvCxnSpPr>
          <p:nvPr/>
        </p:nvCxnSpPr>
        <p:spPr>
          <a:xfrm>
            <a:off x="7142480" y="3696454"/>
            <a:ext cx="1584520" cy="7840"/>
          </a:xfrm>
          <a:prstGeom prst="line">
            <a:avLst/>
          </a:prstGeom>
          <a:ln>
            <a:prstDash val="dashDot"/>
          </a:ln>
        </p:spPr>
        <p:style>
          <a:lnRef idx="1">
            <a:schemeClr val="dk1"/>
          </a:lnRef>
          <a:fillRef idx="0">
            <a:schemeClr val="dk1"/>
          </a:fillRef>
          <a:effectRef idx="0">
            <a:schemeClr val="dk1"/>
          </a:effectRef>
          <a:fontRef idx="minor">
            <a:schemeClr val="tx1"/>
          </a:fontRef>
        </p:style>
      </p:cxnSp>
      <p:cxnSp>
        <p:nvCxnSpPr>
          <p:cNvPr id="34" name="Прямая соединительная линия 33">
            <a:extLst>
              <a:ext uri="{FF2B5EF4-FFF2-40B4-BE49-F238E27FC236}">
                <a16:creationId xmlns:a16="http://schemas.microsoft.com/office/drawing/2014/main" id="{DCBF6AA1-380A-5FC0-14E2-85109B6C3950}"/>
              </a:ext>
            </a:extLst>
          </p:cNvPr>
          <p:cNvCxnSpPr>
            <a:cxnSpLocks/>
          </p:cNvCxnSpPr>
          <p:nvPr/>
        </p:nvCxnSpPr>
        <p:spPr>
          <a:xfrm>
            <a:off x="8791160" y="3768454"/>
            <a:ext cx="10160" cy="1602611"/>
          </a:xfrm>
          <a:prstGeom prst="line">
            <a:avLst/>
          </a:prstGeom>
          <a:ln>
            <a:prstDash val="dashDot"/>
          </a:ln>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F002A1AE-8130-D1F1-0D1A-38FD98BE8C78}"/>
              </a:ext>
            </a:extLst>
          </p:cNvPr>
          <p:cNvSpPr txBox="1"/>
          <p:nvPr/>
        </p:nvSpPr>
        <p:spPr>
          <a:xfrm>
            <a:off x="6742047" y="3518654"/>
            <a:ext cx="423514" cy="369332"/>
          </a:xfrm>
          <a:prstGeom prst="rect">
            <a:avLst/>
          </a:prstGeom>
          <a:noFill/>
        </p:spPr>
        <p:txBody>
          <a:bodyPr wrap="none" rtlCol="0">
            <a:spAutoFit/>
          </a:bodyPr>
          <a:lstStyle/>
          <a:p>
            <a:r>
              <a:rPr lang="en-US" b="1" dirty="0">
                <a:solidFill>
                  <a:schemeClr val="tx1">
                    <a:lumMod val="95000"/>
                    <a:lumOff val="5000"/>
                  </a:schemeClr>
                </a:solidFill>
              </a:rPr>
              <a:t>P</a:t>
            </a:r>
            <a:r>
              <a:rPr lang="ru-RU" b="1" dirty="0">
                <a:solidFill>
                  <a:schemeClr val="tx1">
                    <a:lumMod val="95000"/>
                    <a:lumOff val="5000"/>
                  </a:schemeClr>
                </a:solidFill>
              </a:rPr>
              <a:t>*</a:t>
            </a:r>
          </a:p>
        </p:txBody>
      </p:sp>
      <p:sp>
        <p:nvSpPr>
          <p:cNvPr id="42" name="TextBox 41">
            <a:extLst>
              <a:ext uri="{FF2B5EF4-FFF2-40B4-BE49-F238E27FC236}">
                <a16:creationId xmlns:a16="http://schemas.microsoft.com/office/drawing/2014/main" id="{EB865A61-95E3-C576-9351-C2D508CF5CF6}"/>
              </a:ext>
            </a:extLst>
          </p:cNvPr>
          <p:cNvSpPr txBox="1"/>
          <p:nvPr/>
        </p:nvSpPr>
        <p:spPr>
          <a:xfrm>
            <a:off x="8615770" y="5386308"/>
            <a:ext cx="458780" cy="369332"/>
          </a:xfrm>
          <a:prstGeom prst="rect">
            <a:avLst/>
          </a:prstGeom>
          <a:noFill/>
        </p:spPr>
        <p:txBody>
          <a:bodyPr wrap="none" rtlCol="0">
            <a:spAutoFit/>
          </a:bodyPr>
          <a:lstStyle/>
          <a:p>
            <a:r>
              <a:rPr lang="en-US" b="1" dirty="0">
                <a:solidFill>
                  <a:schemeClr val="tx1">
                    <a:lumMod val="95000"/>
                    <a:lumOff val="5000"/>
                  </a:schemeClr>
                </a:solidFill>
              </a:rPr>
              <a:t>Q</a:t>
            </a:r>
            <a:r>
              <a:rPr lang="ru-RU" b="1" dirty="0">
                <a:solidFill>
                  <a:schemeClr val="tx1">
                    <a:lumMod val="95000"/>
                    <a:lumOff val="5000"/>
                  </a:schemeClr>
                </a:solidFill>
              </a:rPr>
              <a:t>*</a:t>
            </a:r>
          </a:p>
        </p:txBody>
      </p:sp>
      <p:sp>
        <p:nvSpPr>
          <p:cNvPr id="43" name="Номер слайда 42">
            <a:extLst>
              <a:ext uri="{FF2B5EF4-FFF2-40B4-BE49-F238E27FC236}">
                <a16:creationId xmlns:a16="http://schemas.microsoft.com/office/drawing/2014/main" id="{25795F29-7E96-93D2-FBBA-0EBE86F4A4B7}"/>
              </a:ext>
            </a:extLst>
          </p:cNvPr>
          <p:cNvSpPr>
            <a:spLocks noGrp="1"/>
          </p:cNvSpPr>
          <p:nvPr>
            <p:ph type="sldNum" sz="quarter" idx="12"/>
          </p:nvPr>
        </p:nvSpPr>
        <p:spPr/>
        <p:txBody>
          <a:bodyPr/>
          <a:lstStyle/>
          <a:p>
            <a:fld id="{23F470E1-E072-4587-920D-844ED8D976FF}" type="slidenum">
              <a:rPr lang="ru-RU" smtClean="0"/>
              <a:t>3</a:t>
            </a:fld>
            <a:endParaRPr lang="ru-RU"/>
          </a:p>
        </p:txBody>
      </p:sp>
    </p:spTree>
    <p:extLst>
      <p:ext uri="{BB962C8B-B14F-4D97-AF65-F5344CB8AC3E}">
        <p14:creationId xmlns:p14="http://schemas.microsoft.com/office/powerpoint/2010/main" val="2535041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8764B92-FD22-3615-C3BA-6DFF9724E9D8}"/>
              </a:ext>
            </a:extLst>
          </p:cNvPr>
          <p:cNvSpPr>
            <a:spLocks noGrp="1"/>
          </p:cNvSpPr>
          <p:nvPr>
            <p:ph type="title"/>
          </p:nvPr>
        </p:nvSpPr>
        <p:spPr/>
        <p:txBody>
          <a:bodyPr/>
          <a:lstStyle/>
          <a:p>
            <a:r>
              <a:rPr lang="ru-RU" dirty="0"/>
              <a:t>Как двигаются спрос и предложение</a:t>
            </a:r>
            <a:r>
              <a:rPr lang="en-US" dirty="0"/>
              <a:t>?</a:t>
            </a:r>
            <a:endParaRPr lang="ru-RU" dirty="0"/>
          </a:p>
        </p:txBody>
      </p:sp>
      <p:sp>
        <p:nvSpPr>
          <p:cNvPr id="3" name="Объект 2">
            <a:extLst>
              <a:ext uri="{FF2B5EF4-FFF2-40B4-BE49-F238E27FC236}">
                <a16:creationId xmlns:a16="http://schemas.microsoft.com/office/drawing/2014/main" id="{44208447-6FCA-328D-B6B8-3B441B583717}"/>
              </a:ext>
            </a:extLst>
          </p:cNvPr>
          <p:cNvSpPr>
            <a:spLocks noGrp="1"/>
          </p:cNvSpPr>
          <p:nvPr>
            <p:ph idx="1"/>
          </p:nvPr>
        </p:nvSpPr>
        <p:spPr>
          <a:xfrm>
            <a:off x="838199" y="1469628"/>
            <a:ext cx="5201071" cy="5114050"/>
          </a:xfrm>
        </p:spPr>
        <p:txBody>
          <a:bodyPr>
            <a:normAutofit/>
          </a:bodyPr>
          <a:lstStyle/>
          <a:p>
            <a:r>
              <a:rPr lang="ru-RU" sz="2000" dirty="0"/>
              <a:t>Мы уже успели заметить, что спрос и предложение в нашем случае – линейные функции (прямые линии с каким-то наклоном).</a:t>
            </a:r>
          </a:p>
          <a:p>
            <a:r>
              <a:rPr lang="ru-RU" sz="2000" dirty="0"/>
              <a:t>Стоит понять, могут ли они как-то двигаться и, если да, то как</a:t>
            </a:r>
            <a:r>
              <a:rPr lang="en-US" sz="2000" dirty="0"/>
              <a:t>?</a:t>
            </a:r>
            <a:endParaRPr lang="ru-RU" sz="2000" dirty="0"/>
          </a:p>
          <a:p>
            <a:pPr lvl="1">
              <a:buFont typeface="Calibri" panose="020F0502020204030204" pitchFamily="34" charset="0"/>
              <a:buChar char="−"/>
            </a:pPr>
            <a:r>
              <a:rPr lang="en-US" sz="1800" b="1" dirty="0"/>
              <a:t>P = a – b*Q</a:t>
            </a:r>
            <a:r>
              <a:rPr lang="ru-RU" sz="1800" b="1" dirty="0"/>
              <a:t> </a:t>
            </a:r>
            <a:r>
              <a:rPr lang="ru-RU" sz="1800" dirty="0"/>
              <a:t>и </a:t>
            </a:r>
            <a:r>
              <a:rPr lang="en-US" sz="1800" b="1" dirty="0"/>
              <a:t>P = c + d*Q</a:t>
            </a:r>
            <a:endParaRPr lang="ru-RU" sz="1800" b="1" dirty="0"/>
          </a:p>
          <a:p>
            <a:pPr lvl="1">
              <a:buFont typeface="Calibri" panose="020F0502020204030204" pitchFamily="34" charset="0"/>
              <a:buChar char="−"/>
            </a:pPr>
            <a:r>
              <a:rPr lang="ru-RU" sz="1800" b="1" dirty="0">
                <a:solidFill>
                  <a:schemeClr val="tx1">
                    <a:lumMod val="95000"/>
                    <a:lumOff val="5000"/>
                  </a:schemeClr>
                </a:solidFill>
              </a:rPr>
              <a:t>а</a:t>
            </a:r>
            <a:r>
              <a:rPr lang="ru-RU" sz="1800" dirty="0"/>
              <a:t> и </a:t>
            </a:r>
            <a:r>
              <a:rPr lang="ru-RU" sz="1800" b="1" dirty="0"/>
              <a:t>с </a:t>
            </a:r>
            <a:r>
              <a:rPr lang="ru-RU" sz="1800" dirty="0"/>
              <a:t>отвечают за сдвиг относительно осей</a:t>
            </a:r>
            <a:r>
              <a:rPr lang="en-US" sz="1800" dirty="0"/>
              <a:t> P </a:t>
            </a:r>
            <a:r>
              <a:rPr lang="ru-RU" sz="1800" dirty="0"/>
              <a:t>и </a:t>
            </a:r>
            <a:r>
              <a:rPr lang="en-US" sz="1800" dirty="0"/>
              <a:t>Q;</a:t>
            </a:r>
            <a:endParaRPr lang="ru-RU" sz="1800" dirty="0"/>
          </a:p>
          <a:p>
            <a:pPr lvl="1">
              <a:buFont typeface="Calibri" panose="020F0502020204030204" pitchFamily="34" charset="0"/>
              <a:buChar char="−"/>
            </a:pPr>
            <a:r>
              <a:rPr lang="en-US" sz="1800" b="1" dirty="0"/>
              <a:t>b</a:t>
            </a:r>
            <a:r>
              <a:rPr lang="ru-RU" sz="1800" b="1" dirty="0"/>
              <a:t> </a:t>
            </a:r>
            <a:r>
              <a:rPr lang="ru-RU" sz="1800" dirty="0"/>
              <a:t>и</a:t>
            </a:r>
            <a:r>
              <a:rPr lang="ru-RU" sz="1800" b="1" dirty="0"/>
              <a:t> </a:t>
            </a:r>
            <a:r>
              <a:rPr lang="en-US" sz="1800" b="1" dirty="0"/>
              <a:t>d</a:t>
            </a:r>
            <a:r>
              <a:rPr lang="ru-RU" sz="1800" b="1" dirty="0"/>
              <a:t> </a:t>
            </a:r>
            <a:r>
              <a:rPr lang="ru-RU" sz="1800" dirty="0"/>
              <a:t>отвечают за наклон кривых</a:t>
            </a:r>
            <a:r>
              <a:rPr lang="en-US" sz="1800" dirty="0"/>
              <a:t> (</a:t>
            </a:r>
            <a:r>
              <a:rPr lang="ru-RU" sz="1800" dirty="0"/>
              <a:t>более крутые или более пологие).</a:t>
            </a:r>
            <a:endParaRPr lang="ru-RU" sz="1800" b="1" dirty="0"/>
          </a:p>
          <a:p>
            <a:r>
              <a:rPr lang="ru-RU" sz="2000" dirty="0"/>
              <a:t>Наклон отражает чувствительность спроса и предложения к изменению цены. В экономике это называются </a:t>
            </a:r>
            <a:r>
              <a:rPr lang="ru-RU" sz="2000" b="1" dirty="0"/>
              <a:t>эластичностью</a:t>
            </a:r>
            <a:r>
              <a:rPr lang="ru-RU" sz="2000" dirty="0"/>
              <a:t>.</a:t>
            </a:r>
          </a:p>
          <a:p>
            <a:r>
              <a:rPr lang="ru-RU" sz="2000" dirty="0"/>
              <a:t>Она нам нужна для изучения налогового бремени, так как она прямо с ним связана.</a:t>
            </a:r>
          </a:p>
          <a:p>
            <a:endParaRPr lang="ru-RU" sz="2200" dirty="0"/>
          </a:p>
        </p:txBody>
      </p:sp>
      <p:cxnSp>
        <p:nvCxnSpPr>
          <p:cNvPr id="7" name="Прямая со стрелкой 6">
            <a:extLst>
              <a:ext uri="{FF2B5EF4-FFF2-40B4-BE49-F238E27FC236}">
                <a16:creationId xmlns:a16="http://schemas.microsoft.com/office/drawing/2014/main" id="{B7CDE2AB-4F96-B9E9-85F5-15B49C117217}"/>
              </a:ext>
            </a:extLst>
          </p:cNvPr>
          <p:cNvCxnSpPr>
            <a:cxnSpLocks/>
          </p:cNvCxnSpPr>
          <p:nvPr/>
        </p:nvCxnSpPr>
        <p:spPr>
          <a:xfrm flipH="1" flipV="1">
            <a:off x="7132320" y="1991360"/>
            <a:ext cx="20320" cy="34101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Прямая со стрелкой 9">
            <a:extLst>
              <a:ext uri="{FF2B5EF4-FFF2-40B4-BE49-F238E27FC236}">
                <a16:creationId xmlns:a16="http://schemas.microsoft.com/office/drawing/2014/main" id="{6B81B6A7-4E8E-4E07-CE87-010D489267C9}"/>
              </a:ext>
            </a:extLst>
          </p:cNvPr>
          <p:cNvCxnSpPr>
            <a:cxnSpLocks/>
          </p:cNvCxnSpPr>
          <p:nvPr/>
        </p:nvCxnSpPr>
        <p:spPr>
          <a:xfrm>
            <a:off x="7152640" y="5401548"/>
            <a:ext cx="374904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EF33DD4C-BCAD-3F04-5768-6D55BE3D4285}"/>
              </a:ext>
            </a:extLst>
          </p:cNvPr>
          <p:cNvSpPr txBox="1"/>
          <p:nvPr/>
        </p:nvSpPr>
        <p:spPr>
          <a:xfrm>
            <a:off x="6998591" y="1656358"/>
            <a:ext cx="308098" cy="369332"/>
          </a:xfrm>
          <a:prstGeom prst="rect">
            <a:avLst/>
          </a:prstGeom>
          <a:noFill/>
        </p:spPr>
        <p:txBody>
          <a:bodyPr wrap="none" rtlCol="0">
            <a:spAutoFit/>
          </a:bodyPr>
          <a:lstStyle/>
          <a:p>
            <a:r>
              <a:rPr lang="en-US" b="1" dirty="0">
                <a:solidFill>
                  <a:srgbClr val="0070C0"/>
                </a:solidFill>
              </a:rPr>
              <a:t>P</a:t>
            </a:r>
            <a:endParaRPr lang="ru-RU" b="1" dirty="0">
              <a:solidFill>
                <a:srgbClr val="0070C0"/>
              </a:solidFill>
            </a:endParaRPr>
          </a:p>
        </p:txBody>
      </p:sp>
      <p:sp>
        <p:nvSpPr>
          <p:cNvPr id="16" name="TextBox 15">
            <a:extLst>
              <a:ext uri="{FF2B5EF4-FFF2-40B4-BE49-F238E27FC236}">
                <a16:creationId xmlns:a16="http://schemas.microsoft.com/office/drawing/2014/main" id="{A8060818-215A-04F3-393A-F0AC529E1A83}"/>
              </a:ext>
            </a:extLst>
          </p:cNvPr>
          <p:cNvSpPr txBox="1"/>
          <p:nvPr/>
        </p:nvSpPr>
        <p:spPr>
          <a:xfrm>
            <a:off x="10901680" y="5216882"/>
            <a:ext cx="343364" cy="369332"/>
          </a:xfrm>
          <a:prstGeom prst="rect">
            <a:avLst/>
          </a:prstGeom>
          <a:noFill/>
        </p:spPr>
        <p:txBody>
          <a:bodyPr wrap="none" rtlCol="0">
            <a:spAutoFit/>
          </a:bodyPr>
          <a:lstStyle/>
          <a:p>
            <a:r>
              <a:rPr lang="en-US" b="1" dirty="0">
                <a:solidFill>
                  <a:srgbClr val="0070C0"/>
                </a:solidFill>
              </a:rPr>
              <a:t>Q</a:t>
            </a:r>
            <a:endParaRPr lang="ru-RU" b="1" dirty="0">
              <a:solidFill>
                <a:srgbClr val="0070C0"/>
              </a:solidFill>
            </a:endParaRPr>
          </a:p>
        </p:txBody>
      </p:sp>
      <p:cxnSp>
        <p:nvCxnSpPr>
          <p:cNvPr id="18" name="Прямая соединительная линия 17">
            <a:extLst>
              <a:ext uri="{FF2B5EF4-FFF2-40B4-BE49-F238E27FC236}">
                <a16:creationId xmlns:a16="http://schemas.microsoft.com/office/drawing/2014/main" id="{9DD6B94D-274E-B49B-C2FD-A544C088DE06}"/>
              </a:ext>
            </a:extLst>
          </p:cNvPr>
          <p:cNvCxnSpPr/>
          <p:nvPr/>
        </p:nvCxnSpPr>
        <p:spPr>
          <a:xfrm flipV="1">
            <a:off x="7518400" y="2428240"/>
            <a:ext cx="2580640" cy="2550160"/>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22" name="Прямая соединительная линия 21">
            <a:extLst>
              <a:ext uri="{FF2B5EF4-FFF2-40B4-BE49-F238E27FC236}">
                <a16:creationId xmlns:a16="http://schemas.microsoft.com/office/drawing/2014/main" id="{651392EF-DD45-0116-C9AB-88A2AE4FEB8A}"/>
              </a:ext>
            </a:extLst>
          </p:cNvPr>
          <p:cNvCxnSpPr>
            <a:cxnSpLocks/>
          </p:cNvCxnSpPr>
          <p:nvPr/>
        </p:nvCxnSpPr>
        <p:spPr>
          <a:xfrm rot="16200000" flipV="1">
            <a:off x="7503160" y="2428240"/>
            <a:ext cx="2580640" cy="2550160"/>
          </a:xfrm>
          <a:prstGeom prst="line">
            <a:avLst/>
          </a:prstGeom>
          <a:ln w="19050"/>
        </p:spPr>
        <p:style>
          <a:lnRef idx="1">
            <a:schemeClr val="accent6"/>
          </a:lnRef>
          <a:fillRef idx="0">
            <a:schemeClr val="accent6"/>
          </a:fillRef>
          <a:effectRef idx="0">
            <a:schemeClr val="accent6"/>
          </a:effectRef>
          <a:fontRef idx="minor">
            <a:schemeClr val="tx1"/>
          </a:fontRef>
        </p:style>
      </p:cxnSp>
      <p:sp>
        <p:nvSpPr>
          <p:cNvPr id="23" name="TextBox 22">
            <a:extLst>
              <a:ext uri="{FF2B5EF4-FFF2-40B4-BE49-F238E27FC236}">
                <a16:creationId xmlns:a16="http://schemas.microsoft.com/office/drawing/2014/main" id="{6741099B-A1A4-65CE-6722-AA2882472B70}"/>
              </a:ext>
            </a:extLst>
          </p:cNvPr>
          <p:cNvSpPr txBox="1"/>
          <p:nvPr/>
        </p:nvSpPr>
        <p:spPr>
          <a:xfrm>
            <a:off x="7676013" y="2243575"/>
            <a:ext cx="330540" cy="369332"/>
          </a:xfrm>
          <a:prstGeom prst="rect">
            <a:avLst/>
          </a:prstGeom>
          <a:noFill/>
        </p:spPr>
        <p:txBody>
          <a:bodyPr wrap="none" rtlCol="0">
            <a:spAutoFit/>
          </a:bodyPr>
          <a:lstStyle/>
          <a:p>
            <a:r>
              <a:rPr lang="en-US" b="1" dirty="0">
                <a:solidFill>
                  <a:srgbClr val="C00000"/>
                </a:solidFill>
              </a:rPr>
              <a:t>D</a:t>
            </a:r>
            <a:endParaRPr lang="ru-RU" b="1" dirty="0">
              <a:solidFill>
                <a:srgbClr val="C00000"/>
              </a:solidFill>
            </a:endParaRPr>
          </a:p>
        </p:txBody>
      </p:sp>
      <p:sp>
        <p:nvSpPr>
          <p:cNvPr id="24" name="TextBox 23">
            <a:extLst>
              <a:ext uri="{FF2B5EF4-FFF2-40B4-BE49-F238E27FC236}">
                <a16:creationId xmlns:a16="http://schemas.microsoft.com/office/drawing/2014/main" id="{6B6903CF-895F-9D7A-EDA1-338C3E799296}"/>
              </a:ext>
            </a:extLst>
          </p:cNvPr>
          <p:cNvSpPr txBox="1"/>
          <p:nvPr/>
        </p:nvSpPr>
        <p:spPr>
          <a:xfrm>
            <a:off x="9643295" y="2228334"/>
            <a:ext cx="293670" cy="369332"/>
          </a:xfrm>
          <a:prstGeom prst="rect">
            <a:avLst/>
          </a:prstGeom>
          <a:noFill/>
        </p:spPr>
        <p:txBody>
          <a:bodyPr wrap="none" rtlCol="0">
            <a:spAutoFit/>
          </a:bodyPr>
          <a:lstStyle/>
          <a:p>
            <a:r>
              <a:rPr lang="en-US" b="1" dirty="0">
                <a:solidFill>
                  <a:srgbClr val="C00000"/>
                </a:solidFill>
              </a:rPr>
              <a:t>S</a:t>
            </a:r>
            <a:endParaRPr lang="ru-RU" b="1" dirty="0">
              <a:solidFill>
                <a:srgbClr val="C00000"/>
              </a:solidFill>
            </a:endParaRPr>
          </a:p>
        </p:txBody>
      </p:sp>
      <p:sp>
        <p:nvSpPr>
          <p:cNvPr id="25" name="Овал 24">
            <a:extLst>
              <a:ext uri="{FF2B5EF4-FFF2-40B4-BE49-F238E27FC236}">
                <a16:creationId xmlns:a16="http://schemas.microsoft.com/office/drawing/2014/main" id="{459CD14C-FDD1-BAE7-60B9-18BC9072E97F}"/>
              </a:ext>
            </a:extLst>
          </p:cNvPr>
          <p:cNvSpPr/>
          <p:nvPr/>
        </p:nvSpPr>
        <p:spPr>
          <a:xfrm>
            <a:off x="8737160" y="3640134"/>
            <a:ext cx="108000" cy="108000"/>
          </a:xfrm>
          <a:prstGeom prst="ellips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1" name="TextBox 40">
            <a:extLst>
              <a:ext uri="{FF2B5EF4-FFF2-40B4-BE49-F238E27FC236}">
                <a16:creationId xmlns:a16="http://schemas.microsoft.com/office/drawing/2014/main" id="{F002A1AE-8130-D1F1-0D1A-38FD98BE8C78}"/>
              </a:ext>
            </a:extLst>
          </p:cNvPr>
          <p:cNvSpPr txBox="1"/>
          <p:nvPr/>
        </p:nvSpPr>
        <p:spPr>
          <a:xfrm>
            <a:off x="6742047" y="3518654"/>
            <a:ext cx="423514" cy="369332"/>
          </a:xfrm>
          <a:prstGeom prst="rect">
            <a:avLst/>
          </a:prstGeom>
          <a:noFill/>
        </p:spPr>
        <p:txBody>
          <a:bodyPr wrap="none" rtlCol="0">
            <a:spAutoFit/>
          </a:bodyPr>
          <a:lstStyle/>
          <a:p>
            <a:r>
              <a:rPr lang="en-US" b="1" dirty="0">
                <a:solidFill>
                  <a:schemeClr val="tx1">
                    <a:lumMod val="95000"/>
                    <a:lumOff val="5000"/>
                  </a:schemeClr>
                </a:solidFill>
              </a:rPr>
              <a:t>P</a:t>
            </a:r>
            <a:r>
              <a:rPr lang="ru-RU" b="1" dirty="0">
                <a:solidFill>
                  <a:schemeClr val="tx1">
                    <a:lumMod val="95000"/>
                    <a:lumOff val="5000"/>
                  </a:schemeClr>
                </a:solidFill>
              </a:rPr>
              <a:t>*</a:t>
            </a:r>
          </a:p>
        </p:txBody>
      </p:sp>
      <p:sp>
        <p:nvSpPr>
          <p:cNvPr id="42" name="TextBox 41">
            <a:extLst>
              <a:ext uri="{FF2B5EF4-FFF2-40B4-BE49-F238E27FC236}">
                <a16:creationId xmlns:a16="http://schemas.microsoft.com/office/drawing/2014/main" id="{EB865A61-95E3-C576-9351-C2D508CF5CF6}"/>
              </a:ext>
            </a:extLst>
          </p:cNvPr>
          <p:cNvSpPr txBox="1"/>
          <p:nvPr/>
        </p:nvSpPr>
        <p:spPr>
          <a:xfrm>
            <a:off x="8615770" y="5386308"/>
            <a:ext cx="458780" cy="369332"/>
          </a:xfrm>
          <a:prstGeom prst="rect">
            <a:avLst/>
          </a:prstGeom>
          <a:noFill/>
        </p:spPr>
        <p:txBody>
          <a:bodyPr wrap="none" rtlCol="0">
            <a:spAutoFit/>
          </a:bodyPr>
          <a:lstStyle/>
          <a:p>
            <a:r>
              <a:rPr lang="en-US" b="1" dirty="0">
                <a:solidFill>
                  <a:schemeClr val="tx1">
                    <a:lumMod val="95000"/>
                    <a:lumOff val="5000"/>
                  </a:schemeClr>
                </a:solidFill>
              </a:rPr>
              <a:t>Q</a:t>
            </a:r>
            <a:r>
              <a:rPr lang="ru-RU" b="1" dirty="0">
                <a:solidFill>
                  <a:schemeClr val="tx1">
                    <a:lumMod val="95000"/>
                    <a:lumOff val="5000"/>
                  </a:schemeClr>
                </a:solidFill>
              </a:rPr>
              <a:t>*</a:t>
            </a:r>
          </a:p>
        </p:txBody>
      </p:sp>
      <p:sp>
        <p:nvSpPr>
          <p:cNvPr id="43" name="Номер слайда 42">
            <a:extLst>
              <a:ext uri="{FF2B5EF4-FFF2-40B4-BE49-F238E27FC236}">
                <a16:creationId xmlns:a16="http://schemas.microsoft.com/office/drawing/2014/main" id="{25795F29-7E96-93D2-FBBA-0EBE86F4A4B7}"/>
              </a:ext>
            </a:extLst>
          </p:cNvPr>
          <p:cNvSpPr>
            <a:spLocks noGrp="1"/>
          </p:cNvSpPr>
          <p:nvPr>
            <p:ph type="sldNum" sz="quarter" idx="12"/>
          </p:nvPr>
        </p:nvSpPr>
        <p:spPr/>
        <p:txBody>
          <a:bodyPr/>
          <a:lstStyle/>
          <a:p>
            <a:fld id="{23F470E1-E072-4587-920D-844ED8D976FF}" type="slidenum">
              <a:rPr lang="ru-RU" smtClean="0"/>
              <a:t>4</a:t>
            </a:fld>
            <a:endParaRPr lang="ru-RU"/>
          </a:p>
        </p:txBody>
      </p:sp>
      <p:cxnSp>
        <p:nvCxnSpPr>
          <p:cNvPr id="5" name="Прямая соединительная линия 4">
            <a:extLst>
              <a:ext uri="{FF2B5EF4-FFF2-40B4-BE49-F238E27FC236}">
                <a16:creationId xmlns:a16="http://schemas.microsoft.com/office/drawing/2014/main" id="{4DD548F3-9E92-0665-89FB-E9CC9011A15C}"/>
              </a:ext>
            </a:extLst>
          </p:cNvPr>
          <p:cNvCxnSpPr>
            <a:cxnSpLocks/>
          </p:cNvCxnSpPr>
          <p:nvPr/>
        </p:nvCxnSpPr>
        <p:spPr>
          <a:xfrm flipV="1">
            <a:off x="7977084" y="2271038"/>
            <a:ext cx="1610227" cy="2830155"/>
          </a:xfrm>
          <a:prstGeom prst="line">
            <a:avLst/>
          </a:prstGeom>
          <a:ln w="3175">
            <a:prstDash val="dashDot"/>
          </a:ln>
        </p:spPr>
        <p:style>
          <a:lnRef idx="1">
            <a:schemeClr val="accent2"/>
          </a:lnRef>
          <a:fillRef idx="0">
            <a:schemeClr val="accent2"/>
          </a:fillRef>
          <a:effectRef idx="0">
            <a:schemeClr val="accent2"/>
          </a:effectRef>
          <a:fontRef idx="minor">
            <a:schemeClr val="tx1"/>
          </a:fontRef>
        </p:style>
      </p:cxnSp>
      <p:cxnSp>
        <p:nvCxnSpPr>
          <p:cNvPr id="8" name="Прямая соединительная линия 7">
            <a:extLst>
              <a:ext uri="{FF2B5EF4-FFF2-40B4-BE49-F238E27FC236}">
                <a16:creationId xmlns:a16="http://schemas.microsoft.com/office/drawing/2014/main" id="{EE846212-EE53-1E3F-4045-B63E014D285D}"/>
              </a:ext>
            </a:extLst>
          </p:cNvPr>
          <p:cNvCxnSpPr>
            <a:cxnSpLocks/>
          </p:cNvCxnSpPr>
          <p:nvPr/>
        </p:nvCxnSpPr>
        <p:spPr>
          <a:xfrm flipV="1">
            <a:off x="7394160" y="2845749"/>
            <a:ext cx="2794000" cy="1734939"/>
          </a:xfrm>
          <a:prstGeom prst="line">
            <a:avLst/>
          </a:prstGeom>
          <a:ln w="3175">
            <a:prstDash val="dashDot"/>
          </a:ln>
        </p:spPr>
        <p:style>
          <a:lnRef idx="1">
            <a:schemeClr val="accent2"/>
          </a:lnRef>
          <a:fillRef idx="0">
            <a:schemeClr val="accent2"/>
          </a:fillRef>
          <a:effectRef idx="0">
            <a:schemeClr val="accent2"/>
          </a:effectRef>
          <a:fontRef idx="minor">
            <a:schemeClr val="tx1"/>
          </a:fontRef>
        </p:style>
      </p:cxnSp>
      <p:cxnSp>
        <p:nvCxnSpPr>
          <p:cNvPr id="12" name="Прямая со стрелкой 11">
            <a:extLst>
              <a:ext uri="{FF2B5EF4-FFF2-40B4-BE49-F238E27FC236}">
                <a16:creationId xmlns:a16="http://schemas.microsoft.com/office/drawing/2014/main" id="{C3AB02E4-8744-A776-66AB-1FD6152A0426}"/>
              </a:ext>
            </a:extLst>
          </p:cNvPr>
          <p:cNvCxnSpPr>
            <a:cxnSpLocks/>
          </p:cNvCxnSpPr>
          <p:nvPr/>
        </p:nvCxnSpPr>
        <p:spPr>
          <a:xfrm>
            <a:off x="10124544" y="2508024"/>
            <a:ext cx="98736" cy="27676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8" name="Прямая со стрелкой 27">
            <a:extLst>
              <a:ext uri="{FF2B5EF4-FFF2-40B4-BE49-F238E27FC236}">
                <a16:creationId xmlns:a16="http://schemas.microsoft.com/office/drawing/2014/main" id="{BF605E03-6EE6-970E-22C9-8C134D9B4CA0}"/>
              </a:ext>
            </a:extLst>
          </p:cNvPr>
          <p:cNvCxnSpPr>
            <a:cxnSpLocks/>
          </p:cNvCxnSpPr>
          <p:nvPr/>
        </p:nvCxnSpPr>
        <p:spPr>
          <a:xfrm flipH="1" flipV="1">
            <a:off x="9643295" y="2211448"/>
            <a:ext cx="329715" cy="12831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5" name="Прямая соединительная линия 34">
            <a:extLst>
              <a:ext uri="{FF2B5EF4-FFF2-40B4-BE49-F238E27FC236}">
                <a16:creationId xmlns:a16="http://schemas.microsoft.com/office/drawing/2014/main" id="{D88361DE-0E99-D437-64B8-139DD51242BB}"/>
              </a:ext>
            </a:extLst>
          </p:cNvPr>
          <p:cNvCxnSpPr>
            <a:cxnSpLocks/>
          </p:cNvCxnSpPr>
          <p:nvPr/>
        </p:nvCxnSpPr>
        <p:spPr>
          <a:xfrm flipH="1" flipV="1">
            <a:off x="8230218" y="2098596"/>
            <a:ext cx="1043748" cy="2887424"/>
          </a:xfrm>
          <a:prstGeom prst="line">
            <a:avLst/>
          </a:prstGeom>
          <a:ln>
            <a:prstDash val="dashDot"/>
          </a:ln>
        </p:spPr>
        <p:style>
          <a:lnRef idx="1">
            <a:schemeClr val="accent6"/>
          </a:lnRef>
          <a:fillRef idx="0">
            <a:schemeClr val="accent6"/>
          </a:fillRef>
          <a:effectRef idx="0">
            <a:schemeClr val="accent6"/>
          </a:effectRef>
          <a:fontRef idx="minor">
            <a:schemeClr val="tx1"/>
          </a:fontRef>
        </p:style>
      </p:cxnSp>
      <p:cxnSp>
        <p:nvCxnSpPr>
          <p:cNvPr id="44" name="Прямая соединительная линия 43">
            <a:extLst>
              <a:ext uri="{FF2B5EF4-FFF2-40B4-BE49-F238E27FC236}">
                <a16:creationId xmlns:a16="http://schemas.microsoft.com/office/drawing/2014/main" id="{CF6A688A-9A7B-2C9F-D16B-2E34D4006520}"/>
              </a:ext>
            </a:extLst>
          </p:cNvPr>
          <p:cNvCxnSpPr>
            <a:cxnSpLocks/>
          </p:cNvCxnSpPr>
          <p:nvPr/>
        </p:nvCxnSpPr>
        <p:spPr>
          <a:xfrm flipH="1" flipV="1">
            <a:off x="7316169" y="2813547"/>
            <a:ext cx="2727961" cy="1625216"/>
          </a:xfrm>
          <a:prstGeom prst="line">
            <a:avLst/>
          </a:prstGeom>
          <a:ln>
            <a:prstDash val="dashDot"/>
          </a:ln>
        </p:spPr>
        <p:style>
          <a:lnRef idx="1">
            <a:schemeClr val="accent6"/>
          </a:lnRef>
          <a:fillRef idx="0">
            <a:schemeClr val="accent6"/>
          </a:fillRef>
          <a:effectRef idx="0">
            <a:schemeClr val="accent6"/>
          </a:effectRef>
          <a:fontRef idx="minor">
            <a:schemeClr val="tx1"/>
          </a:fontRef>
        </p:style>
      </p:cxnSp>
      <p:cxnSp>
        <p:nvCxnSpPr>
          <p:cNvPr id="48" name="Прямая со стрелкой 47">
            <a:extLst>
              <a:ext uri="{FF2B5EF4-FFF2-40B4-BE49-F238E27FC236}">
                <a16:creationId xmlns:a16="http://schemas.microsoft.com/office/drawing/2014/main" id="{BAC11B2C-C782-DB6F-4BF2-0C022A4D1E40}"/>
              </a:ext>
            </a:extLst>
          </p:cNvPr>
          <p:cNvCxnSpPr>
            <a:cxnSpLocks/>
          </p:cNvCxnSpPr>
          <p:nvPr/>
        </p:nvCxnSpPr>
        <p:spPr>
          <a:xfrm flipH="1">
            <a:off x="7297749" y="2486032"/>
            <a:ext cx="165270" cy="296287"/>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50" name="Прямая со стрелкой 49">
            <a:extLst>
              <a:ext uri="{FF2B5EF4-FFF2-40B4-BE49-F238E27FC236}">
                <a16:creationId xmlns:a16="http://schemas.microsoft.com/office/drawing/2014/main" id="{FD7D9AEF-EE83-AEEB-AF0A-231148565626}"/>
              </a:ext>
            </a:extLst>
          </p:cNvPr>
          <p:cNvCxnSpPr>
            <a:cxnSpLocks/>
          </p:cNvCxnSpPr>
          <p:nvPr/>
        </p:nvCxnSpPr>
        <p:spPr>
          <a:xfrm flipV="1">
            <a:off x="7596786" y="2152211"/>
            <a:ext cx="577448" cy="192857"/>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54" name="TextBox 53">
            <a:extLst>
              <a:ext uri="{FF2B5EF4-FFF2-40B4-BE49-F238E27FC236}">
                <a16:creationId xmlns:a16="http://schemas.microsoft.com/office/drawing/2014/main" id="{B3756F2D-E11F-7701-D13D-CA874EDD523E}"/>
              </a:ext>
            </a:extLst>
          </p:cNvPr>
          <p:cNvSpPr txBox="1"/>
          <p:nvPr/>
        </p:nvSpPr>
        <p:spPr>
          <a:xfrm>
            <a:off x="9161265" y="1943788"/>
            <a:ext cx="1076923" cy="276999"/>
          </a:xfrm>
          <a:prstGeom prst="rect">
            <a:avLst/>
          </a:prstGeom>
          <a:noFill/>
        </p:spPr>
        <p:txBody>
          <a:bodyPr wrap="square">
            <a:spAutoFit/>
          </a:bodyPr>
          <a:lstStyle/>
          <a:p>
            <a:r>
              <a:rPr lang="ru-RU" sz="1200" dirty="0"/>
              <a:t>более крутая</a:t>
            </a:r>
          </a:p>
        </p:txBody>
      </p:sp>
      <p:sp>
        <p:nvSpPr>
          <p:cNvPr id="55" name="TextBox 54">
            <a:extLst>
              <a:ext uri="{FF2B5EF4-FFF2-40B4-BE49-F238E27FC236}">
                <a16:creationId xmlns:a16="http://schemas.microsoft.com/office/drawing/2014/main" id="{3C4B1476-7374-E940-1B61-1C8EF260C372}"/>
              </a:ext>
            </a:extLst>
          </p:cNvPr>
          <p:cNvSpPr txBox="1"/>
          <p:nvPr/>
        </p:nvSpPr>
        <p:spPr>
          <a:xfrm>
            <a:off x="10154421" y="2778498"/>
            <a:ext cx="1168163" cy="276999"/>
          </a:xfrm>
          <a:prstGeom prst="rect">
            <a:avLst/>
          </a:prstGeom>
          <a:noFill/>
        </p:spPr>
        <p:txBody>
          <a:bodyPr wrap="square">
            <a:spAutoFit/>
          </a:bodyPr>
          <a:lstStyle/>
          <a:p>
            <a:r>
              <a:rPr lang="ru-RU" sz="1200" dirty="0"/>
              <a:t>более пологая</a:t>
            </a:r>
          </a:p>
        </p:txBody>
      </p:sp>
      <p:sp>
        <p:nvSpPr>
          <p:cNvPr id="56" name="TextBox 55">
            <a:extLst>
              <a:ext uri="{FF2B5EF4-FFF2-40B4-BE49-F238E27FC236}">
                <a16:creationId xmlns:a16="http://schemas.microsoft.com/office/drawing/2014/main" id="{82C26B45-6DF2-0115-31B7-E5DF10A3530E}"/>
              </a:ext>
            </a:extLst>
          </p:cNvPr>
          <p:cNvSpPr txBox="1"/>
          <p:nvPr/>
        </p:nvSpPr>
        <p:spPr>
          <a:xfrm>
            <a:off x="8072138" y="1923752"/>
            <a:ext cx="1076923" cy="276999"/>
          </a:xfrm>
          <a:prstGeom prst="rect">
            <a:avLst/>
          </a:prstGeom>
          <a:noFill/>
        </p:spPr>
        <p:txBody>
          <a:bodyPr wrap="square">
            <a:spAutoFit/>
          </a:bodyPr>
          <a:lstStyle/>
          <a:p>
            <a:r>
              <a:rPr lang="ru-RU" sz="1200" dirty="0"/>
              <a:t>более крутая</a:t>
            </a:r>
          </a:p>
        </p:txBody>
      </p:sp>
      <p:sp>
        <p:nvSpPr>
          <p:cNvPr id="57" name="TextBox 56">
            <a:extLst>
              <a:ext uri="{FF2B5EF4-FFF2-40B4-BE49-F238E27FC236}">
                <a16:creationId xmlns:a16="http://schemas.microsoft.com/office/drawing/2014/main" id="{B3D199E8-5E7B-2A74-B7E1-6D8EBEC7C15B}"/>
              </a:ext>
            </a:extLst>
          </p:cNvPr>
          <p:cNvSpPr txBox="1"/>
          <p:nvPr/>
        </p:nvSpPr>
        <p:spPr>
          <a:xfrm>
            <a:off x="7150320" y="2891916"/>
            <a:ext cx="1168163" cy="276999"/>
          </a:xfrm>
          <a:prstGeom prst="rect">
            <a:avLst/>
          </a:prstGeom>
          <a:noFill/>
        </p:spPr>
        <p:txBody>
          <a:bodyPr wrap="square">
            <a:spAutoFit/>
          </a:bodyPr>
          <a:lstStyle/>
          <a:p>
            <a:r>
              <a:rPr lang="ru-RU" sz="1200" dirty="0"/>
              <a:t>более пологая</a:t>
            </a:r>
          </a:p>
        </p:txBody>
      </p:sp>
    </p:spTree>
    <p:extLst>
      <p:ext uri="{BB962C8B-B14F-4D97-AF65-F5344CB8AC3E}">
        <p14:creationId xmlns:p14="http://schemas.microsoft.com/office/powerpoint/2010/main" val="687223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Прямая соединительная линия 12">
            <a:extLst>
              <a:ext uri="{FF2B5EF4-FFF2-40B4-BE49-F238E27FC236}">
                <a16:creationId xmlns:a16="http://schemas.microsoft.com/office/drawing/2014/main" id="{4A5FCC8D-176E-47C1-F18D-759A71C5FB67}"/>
              </a:ext>
            </a:extLst>
          </p:cNvPr>
          <p:cNvCxnSpPr>
            <a:cxnSpLocks/>
          </p:cNvCxnSpPr>
          <p:nvPr/>
        </p:nvCxnSpPr>
        <p:spPr>
          <a:xfrm>
            <a:off x="8799939" y="2502078"/>
            <a:ext cx="8781" cy="2466162"/>
          </a:xfrm>
          <a:prstGeom prst="line">
            <a:avLst/>
          </a:prstGeom>
          <a:ln w="19050">
            <a:solidFill>
              <a:srgbClr val="FF0000"/>
            </a:solidFill>
          </a:ln>
        </p:spPr>
        <p:style>
          <a:lnRef idx="2">
            <a:schemeClr val="accent4"/>
          </a:lnRef>
          <a:fillRef idx="0">
            <a:schemeClr val="accent4"/>
          </a:fillRef>
          <a:effectRef idx="1">
            <a:schemeClr val="accent4"/>
          </a:effectRef>
          <a:fontRef idx="minor">
            <a:schemeClr val="tx1"/>
          </a:fontRef>
        </p:style>
      </p:cxnSp>
      <p:cxnSp>
        <p:nvCxnSpPr>
          <p:cNvPr id="6" name="Прямая соединительная линия 5">
            <a:extLst>
              <a:ext uri="{FF2B5EF4-FFF2-40B4-BE49-F238E27FC236}">
                <a16:creationId xmlns:a16="http://schemas.microsoft.com/office/drawing/2014/main" id="{062023A7-A9F7-FF53-A411-80212AD0F655}"/>
              </a:ext>
            </a:extLst>
          </p:cNvPr>
          <p:cNvCxnSpPr>
            <a:cxnSpLocks/>
          </p:cNvCxnSpPr>
          <p:nvPr/>
        </p:nvCxnSpPr>
        <p:spPr>
          <a:xfrm>
            <a:off x="7391899" y="3697334"/>
            <a:ext cx="3058160" cy="0"/>
          </a:xfrm>
          <a:prstGeom prst="line">
            <a:avLst/>
          </a:prstGeom>
          <a:ln w="19050"/>
        </p:spPr>
        <p:style>
          <a:lnRef idx="2">
            <a:schemeClr val="accent4"/>
          </a:lnRef>
          <a:fillRef idx="0">
            <a:schemeClr val="accent4"/>
          </a:fillRef>
          <a:effectRef idx="1">
            <a:schemeClr val="accent4"/>
          </a:effectRef>
          <a:fontRef idx="minor">
            <a:schemeClr val="tx1"/>
          </a:fontRef>
        </p:style>
      </p:cxnSp>
      <p:sp>
        <p:nvSpPr>
          <p:cNvPr id="2" name="Заголовок 1">
            <a:extLst>
              <a:ext uri="{FF2B5EF4-FFF2-40B4-BE49-F238E27FC236}">
                <a16:creationId xmlns:a16="http://schemas.microsoft.com/office/drawing/2014/main" id="{A8764B92-FD22-3615-C3BA-6DFF9724E9D8}"/>
              </a:ext>
            </a:extLst>
          </p:cNvPr>
          <p:cNvSpPr>
            <a:spLocks noGrp="1"/>
          </p:cNvSpPr>
          <p:nvPr>
            <p:ph type="title"/>
          </p:nvPr>
        </p:nvSpPr>
        <p:spPr/>
        <p:txBody>
          <a:bodyPr/>
          <a:lstStyle/>
          <a:p>
            <a:r>
              <a:rPr lang="ru-RU" dirty="0"/>
              <a:t>Как двигаются спрос и предложение</a:t>
            </a:r>
            <a:r>
              <a:rPr lang="en-US" dirty="0"/>
              <a:t>?</a:t>
            </a:r>
            <a:endParaRPr lang="ru-RU"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4208447-6FCA-328D-B6B8-3B441B583717}"/>
                  </a:ext>
                </a:extLst>
              </p:cNvPr>
              <p:cNvSpPr>
                <a:spLocks noGrp="1"/>
              </p:cNvSpPr>
              <p:nvPr>
                <p:ph idx="1"/>
              </p:nvPr>
            </p:nvSpPr>
            <p:spPr>
              <a:xfrm>
                <a:off x="101601" y="1469628"/>
                <a:ext cx="6583473" cy="5114050"/>
              </a:xfrm>
            </p:spPr>
            <p:txBody>
              <a:bodyPr>
                <a:normAutofit lnSpcReduction="10000"/>
              </a:bodyPr>
              <a:lstStyle/>
              <a:p>
                <a:pPr marL="0" indent="0">
                  <a:buNone/>
                </a:pPr>
                <a:r>
                  <a:rPr lang="ru-RU" sz="2000" b="1" dirty="0"/>
                  <a:t>Эластичность спроса по цене (</a:t>
                </a:r>
                <a14:m>
                  <m:oMath xmlns:m="http://schemas.openxmlformats.org/officeDocument/2006/math">
                    <m:sSubSup>
                      <m:sSubSupPr>
                        <m:ctrlPr>
                          <a:rPr lang="ru-RU" sz="2000" b="1" i="1" smtClean="0">
                            <a:latin typeface="Cambria Math" panose="02040503050406030204" pitchFamily="18" charset="0"/>
                          </a:rPr>
                        </m:ctrlPr>
                      </m:sSubSupPr>
                      <m:e>
                        <m:r>
                          <a:rPr lang="en-US" sz="2000" b="1" i="1" smtClean="0">
                            <a:latin typeface="Cambria Math" panose="02040503050406030204" pitchFamily="18" charset="0"/>
                          </a:rPr>
                          <m:t>𝑬</m:t>
                        </m:r>
                      </m:e>
                      <m:sub>
                        <m:r>
                          <a:rPr lang="en-US" sz="2000" b="1" i="1" smtClean="0">
                            <a:latin typeface="Cambria Math" panose="02040503050406030204" pitchFamily="18" charset="0"/>
                          </a:rPr>
                          <m:t>𝑷</m:t>
                        </m:r>
                      </m:sub>
                      <m:sup>
                        <m:r>
                          <a:rPr lang="en-US" sz="2000" b="1" i="1" smtClean="0">
                            <a:latin typeface="Cambria Math" panose="02040503050406030204" pitchFamily="18" charset="0"/>
                          </a:rPr>
                          <m:t>𝑫</m:t>
                        </m:r>
                      </m:sup>
                    </m:sSubSup>
                  </m:oMath>
                </a14:m>
                <a:r>
                  <a:rPr lang="ru-RU" sz="2000" b="1" dirty="0"/>
                  <a:t>) </a:t>
                </a:r>
                <a:r>
                  <a:rPr lang="ru-RU" sz="2000" dirty="0"/>
                  <a:t>- показатель степени чувствительности, изменение спроса на товар</a:t>
                </a:r>
                <a:r>
                  <a:rPr lang="en-US" sz="2000" dirty="0"/>
                  <a:t>/</a:t>
                </a:r>
                <a:r>
                  <a:rPr lang="ru-RU" sz="2000" dirty="0"/>
                  <a:t>услугу в % в следствие изменения его</a:t>
                </a:r>
                <a:r>
                  <a:rPr lang="en-US" sz="2000" dirty="0"/>
                  <a:t>/</a:t>
                </a:r>
                <a:r>
                  <a:rPr lang="ru-RU" sz="2000" dirty="0"/>
                  <a:t>ее цены.</a:t>
                </a:r>
                <a:endParaRPr lang="en-US" sz="2000" dirty="0"/>
              </a:p>
              <a:p>
                <a:pPr lvl="1">
                  <a:buFontTx/>
                  <a:buChar char="−"/>
                </a:pPr>
                <a:r>
                  <a:rPr lang="ru-RU" sz="1800" dirty="0"/>
                  <a:t>Если </a:t>
                </a:r>
                <a14:m>
                  <m:oMath xmlns:m="http://schemas.openxmlformats.org/officeDocument/2006/math">
                    <m:sSubSup>
                      <m:sSubSupPr>
                        <m:ctrlPr>
                          <a:rPr lang="ru-RU" sz="1800" b="1" i="1" smtClean="0">
                            <a:latin typeface="Cambria Math" panose="02040503050406030204" pitchFamily="18" charset="0"/>
                          </a:rPr>
                        </m:ctrlPr>
                      </m:sSubSupPr>
                      <m:e>
                        <m:r>
                          <a:rPr lang="en-US" sz="1800" b="1" i="1" smtClean="0">
                            <a:latin typeface="Cambria Math" panose="02040503050406030204" pitchFamily="18" charset="0"/>
                          </a:rPr>
                          <m:t>𝑬</m:t>
                        </m:r>
                      </m:e>
                      <m:sub>
                        <m:r>
                          <a:rPr lang="en-US" sz="1800" b="1" i="1" smtClean="0">
                            <a:latin typeface="Cambria Math" panose="02040503050406030204" pitchFamily="18" charset="0"/>
                          </a:rPr>
                          <m:t>𝑷</m:t>
                        </m:r>
                      </m:sub>
                      <m:sup>
                        <m:r>
                          <a:rPr lang="en-US" sz="1800" b="1" i="1" smtClean="0">
                            <a:latin typeface="Cambria Math" panose="02040503050406030204" pitchFamily="18" charset="0"/>
                          </a:rPr>
                          <m:t>𝑫</m:t>
                        </m:r>
                      </m:sup>
                    </m:sSubSup>
                  </m:oMath>
                </a14:m>
                <a:r>
                  <a:rPr lang="ru-RU" sz="1800" dirty="0"/>
                  <a:t> </a:t>
                </a:r>
                <a:r>
                  <a:rPr lang="en-US" sz="1800" dirty="0"/>
                  <a:t>=</a:t>
                </a:r>
                <a:r>
                  <a:rPr lang="ru-RU" sz="1800" dirty="0"/>
                  <a:t> -∞, то спрос </a:t>
                </a:r>
                <a:r>
                  <a:rPr lang="ru-RU" sz="1800" dirty="0">
                    <a:solidFill>
                      <a:srgbClr val="FFC000"/>
                    </a:solidFill>
                  </a:rPr>
                  <a:t>абсолютно эластичен</a:t>
                </a:r>
                <a:r>
                  <a:rPr lang="ru-RU" sz="1800" dirty="0"/>
                  <a:t>. Это значит, что с небольшим изменением цены на товар спрос на него меняется невероятно сильно.</a:t>
                </a:r>
              </a:p>
              <a:p>
                <a:pPr lvl="1">
                  <a:buFontTx/>
                  <a:buChar char="−"/>
                </a:pPr>
                <a:r>
                  <a:rPr lang="ru-RU" sz="1800" dirty="0"/>
                  <a:t>Если </a:t>
                </a:r>
                <a14:m>
                  <m:oMath xmlns:m="http://schemas.openxmlformats.org/officeDocument/2006/math">
                    <m:sSubSup>
                      <m:sSubSupPr>
                        <m:ctrlPr>
                          <a:rPr lang="ru-RU" sz="1800" b="1" i="1" smtClean="0">
                            <a:latin typeface="Cambria Math" panose="02040503050406030204" pitchFamily="18" charset="0"/>
                          </a:rPr>
                        </m:ctrlPr>
                      </m:sSubSupPr>
                      <m:e>
                        <m:r>
                          <a:rPr lang="en-US" sz="1800" b="1" i="1" smtClean="0">
                            <a:latin typeface="Cambria Math" panose="02040503050406030204" pitchFamily="18" charset="0"/>
                          </a:rPr>
                          <m:t>𝑬</m:t>
                        </m:r>
                      </m:e>
                      <m:sub>
                        <m:r>
                          <a:rPr lang="en-US" sz="1800" b="1" i="1" smtClean="0">
                            <a:latin typeface="Cambria Math" panose="02040503050406030204" pitchFamily="18" charset="0"/>
                          </a:rPr>
                          <m:t>𝑷</m:t>
                        </m:r>
                      </m:sub>
                      <m:sup>
                        <m:r>
                          <a:rPr lang="en-US" sz="1800" b="1" i="1" smtClean="0">
                            <a:latin typeface="Cambria Math" panose="02040503050406030204" pitchFamily="18" charset="0"/>
                          </a:rPr>
                          <m:t>𝑫</m:t>
                        </m:r>
                      </m:sup>
                    </m:sSubSup>
                  </m:oMath>
                </a14:m>
                <a:r>
                  <a:rPr lang="ru-RU" sz="1800" dirty="0"/>
                  <a:t> = 0, то спрос </a:t>
                </a:r>
                <a:r>
                  <a:rPr lang="ru-RU" sz="1800" dirty="0">
                    <a:solidFill>
                      <a:srgbClr val="FF0000"/>
                    </a:solidFill>
                  </a:rPr>
                  <a:t>абсолютно неэластичен</a:t>
                </a:r>
                <a:r>
                  <a:rPr lang="ru-RU" sz="1800" dirty="0"/>
                  <a:t>. Это значит, что как бы ни менялась цена, величина спроса меняться не будет.</a:t>
                </a:r>
              </a:p>
              <a:p>
                <a:pPr lvl="1">
                  <a:buFontTx/>
                  <a:buChar char="−"/>
                </a:pPr>
                <a:r>
                  <a:rPr lang="ru-RU" sz="1800" dirty="0"/>
                  <a:t>В остальных случаях спрос может быть более или менее эластичен:</a:t>
                </a:r>
              </a:p>
              <a:p>
                <a:pPr lvl="2"/>
                <a:r>
                  <a:rPr lang="ru-RU" sz="1400" dirty="0"/>
                  <a:t>Если </a:t>
                </a:r>
                <a:r>
                  <a:rPr lang="en-US" sz="1400" b="1" dirty="0"/>
                  <a:t>-1</a:t>
                </a:r>
                <a14:m>
                  <m:oMath xmlns:m="http://schemas.openxmlformats.org/officeDocument/2006/math">
                    <m:r>
                      <a:rPr lang="en-US" sz="1400" b="1" i="0" smtClean="0">
                        <a:latin typeface="Cambria Math" panose="02040503050406030204" pitchFamily="18" charset="0"/>
                      </a:rPr>
                      <m:t>&gt;</m:t>
                    </m:r>
                    <m:sSubSup>
                      <m:sSubSupPr>
                        <m:ctrlPr>
                          <a:rPr lang="ru-RU" sz="1400" b="1" i="1" smtClean="0">
                            <a:latin typeface="Cambria Math" panose="02040503050406030204" pitchFamily="18" charset="0"/>
                          </a:rPr>
                        </m:ctrlPr>
                      </m:sSubSupPr>
                      <m:e>
                        <m:r>
                          <a:rPr lang="en-US" sz="1400" b="1" i="1" smtClean="0">
                            <a:latin typeface="Cambria Math" panose="02040503050406030204" pitchFamily="18" charset="0"/>
                          </a:rPr>
                          <m:t>𝑬</m:t>
                        </m:r>
                      </m:e>
                      <m:sub>
                        <m:r>
                          <a:rPr lang="en-US" sz="1400" b="1" i="1" smtClean="0">
                            <a:latin typeface="Cambria Math" panose="02040503050406030204" pitchFamily="18" charset="0"/>
                          </a:rPr>
                          <m:t>𝑷</m:t>
                        </m:r>
                      </m:sub>
                      <m:sup>
                        <m:r>
                          <a:rPr lang="en-US" sz="1400" b="1" i="1" smtClean="0">
                            <a:latin typeface="Cambria Math" panose="02040503050406030204" pitchFamily="18" charset="0"/>
                          </a:rPr>
                          <m:t>𝑫</m:t>
                        </m:r>
                      </m:sup>
                    </m:sSubSup>
                  </m:oMath>
                </a14:m>
                <a:r>
                  <a:rPr lang="ru-RU" sz="1400" b="1" dirty="0"/>
                  <a:t> </a:t>
                </a:r>
                <a:r>
                  <a:rPr lang="en-US" sz="1400" b="1" dirty="0"/>
                  <a:t>&gt; 0</a:t>
                </a:r>
                <a:r>
                  <a:rPr lang="en-US" sz="1400" dirty="0"/>
                  <a:t>: </a:t>
                </a:r>
                <a:r>
                  <a:rPr lang="ru-RU" sz="1400" dirty="0"/>
                  <a:t>спрос изменяется меньше, чем цена</a:t>
                </a:r>
                <a:r>
                  <a:rPr lang="en-US" sz="1400" dirty="0"/>
                  <a:t> (</a:t>
                </a:r>
                <a:r>
                  <a:rPr lang="ru-RU" sz="1400" dirty="0"/>
                  <a:t>товары первой необходимости или товары без заменителей)</a:t>
                </a:r>
              </a:p>
              <a:p>
                <a:pPr lvl="2"/>
                <a:r>
                  <a:rPr lang="ru-RU" sz="1400" dirty="0"/>
                  <a:t>Если</a:t>
                </a:r>
                <a:r>
                  <a:rPr lang="ru-RU" sz="1400" b="1" dirty="0"/>
                  <a:t> </a:t>
                </a:r>
                <a14:m>
                  <m:oMath xmlns:m="http://schemas.openxmlformats.org/officeDocument/2006/math">
                    <m:sSubSup>
                      <m:sSubSupPr>
                        <m:ctrlPr>
                          <a:rPr lang="ru-RU" sz="1400" b="1" i="1" smtClean="0">
                            <a:latin typeface="Cambria Math" panose="02040503050406030204" pitchFamily="18" charset="0"/>
                          </a:rPr>
                        </m:ctrlPr>
                      </m:sSubSupPr>
                      <m:e>
                        <m:r>
                          <a:rPr lang="en-US" sz="1400" b="1" i="1" smtClean="0">
                            <a:latin typeface="Cambria Math" panose="02040503050406030204" pitchFamily="18" charset="0"/>
                          </a:rPr>
                          <m:t>𝑬</m:t>
                        </m:r>
                      </m:e>
                      <m:sub>
                        <m:r>
                          <a:rPr lang="en-US" sz="1400" b="1" i="1" smtClean="0">
                            <a:latin typeface="Cambria Math" panose="02040503050406030204" pitchFamily="18" charset="0"/>
                          </a:rPr>
                          <m:t>𝑷</m:t>
                        </m:r>
                      </m:sub>
                      <m:sup>
                        <m:r>
                          <a:rPr lang="en-US" sz="1400" b="1" i="1" smtClean="0">
                            <a:latin typeface="Cambria Math" panose="02040503050406030204" pitchFamily="18" charset="0"/>
                          </a:rPr>
                          <m:t>𝑫</m:t>
                        </m:r>
                      </m:sup>
                    </m:sSubSup>
                  </m:oMath>
                </a14:m>
                <a:r>
                  <a:rPr lang="ru-RU" sz="1400" b="1" dirty="0"/>
                  <a:t>  = -1</a:t>
                </a:r>
                <a:r>
                  <a:rPr lang="ru-RU" sz="1400" dirty="0"/>
                  <a:t>: это единичная эластичность, спрос меняется пропорционально цене</a:t>
                </a:r>
              </a:p>
              <a:p>
                <a:pPr lvl="2"/>
                <a:r>
                  <a:rPr lang="ru-RU" sz="1400" dirty="0"/>
                  <a:t>Если</a:t>
                </a:r>
                <a:r>
                  <a:rPr lang="en-US" sz="1400" dirty="0"/>
                  <a:t> </a:t>
                </a:r>
                <a:r>
                  <a:rPr lang="ru-RU" sz="1400" b="1" dirty="0"/>
                  <a:t>-∞ </a:t>
                </a:r>
                <a:r>
                  <a:rPr lang="en-US" sz="1400" b="1" dirty="0"/>
                  <a:t>&lt;</a:t>
                </a:r>
                <a:r>
                  <a:rPr lang="ru-RU" sz="1400" b="1" dirty="0"/>
                  <a:t> </a:t>
                </a:r>
                <a14:m>
                  <m:oMath xmlns:m="http://schemas.openxmlformats.org/officeDocument/2006/math">
                    <m:sSubSup>
                      <m:sSubSupPr>
                        <m:ctrlPr>
                          <a:rPr lang="ru-RU" sz="1400" b="1" i="1" smtClean="0">
                            <a:latin typeface="Cambria Math" panose="02040503050406030204" pitchFamily="18" charset="0"/>
                          </a:rPr>
                        </m:ctrlPr>
                      </m:sSubSupPr>
                      <m:e>
                        <m:r>
                          <a:rPr lang="en-US" sz="1400" b="1" i="1" smtClean="0">
                            <a:latin typeface="Cambria Math" panose="02040503050406030204" pitchFamily="18" charset="0"/>
                          </a:rPr>
                          <m:t>𝑬</m:t>
                        </m:r>
                      </m:e>
                      <m:sub>
                        <m:r>
                          <a:rPr lang="en-US" sz="1400" b="1" i="1" smtClean="0">
                            <a:latin typeface="Cambria Math" panose="02040503050406030204" pitchFamily="18" charset="0"/>
                          </a:rPr>
                          <m:t>𝑷</m:t>
                        </m:r>
                      </m:sub>
                      <m:sup>
                        <m:r>
                          <a:rPr lang="en-US" sz="1400" b="1" i="1" smtClean="0">
                            <a:latin typeface="Cambria Math" panose="02040503050406030204" pitchFamily="18" charset="0"/>
                          </a:rPr>
                          <m:t>𝑫</m:t>
                        </m:r>
                      </m:sup>
                    </m:sSubSup>
                  </m:oMath>
                </a14:m>
                <a:r>
                  <a:rPr lang="ru-RU" sz="1400" b="1" dirty="0"/>
                  <a:t> </a:t>
                </a:r>
                <a:r>
                  <a:rPr lang="en-US" sz="1400" b="1" dirty="0"/>
                  <a:t>&lt; -1</a:t>
                </a:r>
                <a:r>
                  <a:rPr lang="en-US" sz="1400" dirty="0"/>
                  <a:t>, </a:t>
                </a:r>
                <a:r>
                  <a:rPr lang="ru-RU" sz="1400" dirty="0"/>
                  <a:t>то спрос эластичен (спрос изменяется больше, чем цена: товары имеют замену либо не играют важной роли для потребителя)</a:t>
                </a:r>
              </a:p>
              <a:p>
                <a:r>
                  <a:rPr lang="ru-RU" sz="2000" dirty="0"/>
                  <a:t>Почему отрицательные числа</a:t>
                </a:r>
                <a:r>
                  <a:rPr lang="en-US" sz="2000" dirty="0"/>
                  <a:t>?</a:t>
                </a:r>
                <a:r>
                  <a:rPr lang="ru-RU" sz="2000" dirty="0"/>
                  <a:t> Потому что спрос отрицательно зависит от цены.</a:t>
                </a:r>
              </a:p>
              <a:p>
                <a:pPr lvl="1"/>
                <a:endParaRPr lang="ru-RU" sz="1800" dirty="0"/>
              </a:p>
            </p:txBody>
          </p:sp>
        </mc:Choice>
        <mc:Fallback xmlns="">
          <p:sp>
            <p:nvSpPr>
              <p:cNvPr id="3" name="Объект 2">
                <a:extLst>
                  <a:ext uri="{FF2B5EF4-FFF2-40B4-BE49-F238E27FC236}">
                    <a16:creationId xmlns:a16="http://schemas.microsoft.com/office/drawing/2014/main" id="{44208447-6FCA-328D-B6B8-3B441B583717}"/>
                  </a:ext>
                </a:extLst>
              </p:cNvPr>
              <p:cNvSpPr>
                <a:spLocks noGrp="1" noRot="1" noChangeAspect="1" noMove="1" noResize="1" noEditPoints="1" noAdjustHandles="1" noChangeArrowheads="1" noChangeShapeType="1" noTextEdit="1"/>
              </p:cNvSpPr>
              <p:nvPr>
                <p:ph idx="1"/>
              </p:nvPr>
            </p:nvSpPr>
            <p:spPr>
              <a:xfrm>
                <a:off x="101601" y="1469628"/>
                <a:ext cx="6583473" cy="5114050"/>
              </a:xfrm>
              <a:blipFill>
                <a:blip r:embed="rId2"/>
                <a:stretch>
                  <a:fillRect l="-1019" t="-1430" r="-1296"/>
                </a:stretch>
              </a:blipFill>
            </p:spPr>
            <p:txBody>
              <a:bodyPr/>
              <a:lstStyle/>
              <a:p>
                <a:r>
                  <a:rPr lang="ru-RU">
                    <a:noFill/>
                  </a:rPr>
                  <a:t> </a:t>
                </a:r>
              </a:p>
            </p:txBody>
          </p:sp>
        </mc:Fallback>
      </mc:AlternateContent>
      <p:cxnSp>
        <p:nvCxnSpPr>
          <p:cNvPr id="7" name="Прямая со стрелкой 6">
            <a:extLst>
              <a:ext uri="{FF2B5EF4-FFF2-40B4-BE49-F238E27FC236}">
                <a16:creationId xmlns:a16="http://schemas.microsoft.com/office/drawing/2014/main" id="{B7CDE2AB-4F96-B9E9-85F5-15B49C117217}"/>
              </a:ext>
            </a:extLst>
          </p:cNvPr>
          <p:cNvCxnSpPr>
            <a:cxnSpLocks/>
          </p:cNvCxnSpPr>
          <p:nvPr/>
        </p:nvCxnSpPr>
        <p:spPr>
          <a:xfrm flipH="1" flipV="1">
            <a:off x="7132320" y="1991360"/>
            <a:ext cx="20320" cy="34101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Прямая со стрелкой 9">
            <a:extLst>
              <a:ext uri="{FF2B5EF4-FFF2-40B4-BE49-F238E27FC236}">
                <a16:creationId xmlns:a16="http://schemas.microsoft.com/office/drawing/2014/main" id="{6B81B6A7-4E8E-4E07-CE87-010D489267C9}"/>
              </a:ext>
            </a:extLst>
          </p:cNvPr>
          <p:cNvCxnSpPr>
            <a:cxnSpLocks/>
          </p:cNvCxnSpPr>
          <p:nvPr/>
        </p:nvCxnSpPr>
        <p:spPr>
          <a:xfrm>
            <a:off x="7152640" y="5401548"/>
            <a:ext cx="374904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EF33DD4C-BCAD-3F04-5768-6D55BE3D4285}"/>
              </a:ext>
            </a:extLst>
          </p:cNvPr>
          <p:cNvSpPr txBox="1"/>
          <p:nvPr/>
        </p:nvSpPr>
        <p:spPr>
          <a:xfrm>
            <a:off x="6998591" y="1656358"/>
            <a:ext cx="308098" cy="369332"/>
          </a:xfrm>
          <a:prstGeom prst="rect">
            <a:avLst/>
          </a:prstGeom>
          <a:noFill/>
        </p:spPr>
        <p:txBody>
          <a:bodyPr wrap="none" rtlCol="0">
            <a:spAutoFit/>
          </a:bodyPr>
          <a:lstStyle/>
          <a:p>
            <a:r>
              <a:rPr lang="en-US" b="1" dirty="0">
                <a:solidFill>
                  <a:srgbClr val="0070C0"/>
                </a:solidFill>
              </a:rPr>
              <a:t>P</a:t>
            </a:r>
            <a:endParaRPr lang="ru-RU" b="1" dirty="0">
              <a:solidFill>
                <a:srgbClr val="0070C0"/>
              </a:solidFill>
            </a:endParaRPr>
          </a:p>
        </p:txBody>
      </p:sp>
      <p:sp>
        <p:nvSpPr>
          <p:cNvPr id="16" name="TextBox 15">
            <a:extLst>
              <a:ext uri="{FF2B5EF4-FFF2-40B4-BE49-F238E27FC236}">
                <a16:creationId xmlns:a16="http://schemas.microsoft.com/office/drawing/2014/main" id="{A8060818-215A-04F3-393A-F0AC529E1A83}"/>
              </a:ext>
            </a:extLst>
          </p:cNvPr>
          <p:cNvSpPr txBox="1"/>
          <p:nvPr/>
        </p:nvSpPr>
        <p:spPr>
          <a:xfrm>
            <a:off x="10901680" y="5216882"/>
            <a:ext cx="343364" cy="369332"/>
          </a:xfrm>
          <a:prstGeom prst="rect">
            <a:avLst/>
          </a:prstGeom>
          <a:noFill/>
        </p:spPr>
        <p:txBody>
          <a:bodyPr wrap="none" rtlCol="0">
            <a:spAutoFit/>
          </a:bodyPr>
          <a:lstStyle/>
          <a:p>
            <a:r>
              <a:rPr lang="en-US" b="1" dirty="0">
                <a:solidFill>
                  <a:srgbClr val="0070C0"/>
                </a:solidFill>
              </a:rPr>
              <a:t>Q</a:t>
            </a:r>
            <a:endParaRPr lang="ru-RU" b="1" dirty="0">
              <a:solidFill>
                <a:srgbClr val="0070C0"/>
              </a:solidFill>
            </a:endParaRPr>
          </a:p>
        </p:txBody>
      </p:sp>
      <p:cxnSp>
        <p:nvCxnSpPr>
          <p:cNvPr id="22" name="Прямая соединительная линия 21">
            <a:extLst>
              <a:ext uri="{FF2B5EF4-FFF2-40B4-BE49-F238E27FC236}">
                <a16:creationId xmlns:a16="http://schemas.microsoft.com/office/drawing/2014/main" id="{651392EF-DD45-0116-C9AB-88A2AE4FEB8A}"/>
              </a:ext>
            </a:extLst>
          </p:cNvPr>
          <p:cNvCxnSpPr>
            <a:cxnSpLocks/>
          </p:cNvCxnSpPr>
          <p:nvPr/>
        </p:nvCxnSpPr>
        <p:spPr>
          <a:xfrm rot="16200000" flipV="1">
            <a:off x="7503160" y="2428240"/>
            <a:ext cx="2580640" cy="2550160"/>
          </a:xfrm>
          <a:prstGeom prst="line">
            <a:avLst/>
          </a:prstGeom>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6741099B-A1A4-65CE-6722-AA2882472B70}"/>
              </a:ext>
            </a:extLst>
          </p:cNvPr>
          <p:cNvSpPr txBox="1"/>
          <p:nvPr/>
        </p:nvSpPr>
        <p:spPr>
          <a:xfrm>
            <a:off x="7676013" y="2243575"/>
            <a:ext cx="330540" cy="369332"/>
          </a:xfrm>
          <a:prstGeom prst="rect">
            <a:avLst/>
          </a:prstGeom>
          <a:noFill/>
        </p:spPr>
        <p:txBody>
          <a:bodyPr wrap="none" rtlCol="0">
            <a:spAutoFit/>
          </a:bodyPr>
          <a:lstStyle/>
          <a:p>
            <a:r>
              <a:rPr lang="en-US" b="1" dirty="0">
                <a:solidFill>
                  <a:srgbClr val="C00000"/>
                </a:solidFill>
              </a:rPr>
              <a:t>D</a:t>
            </a:r>
            <a:endParaRPr lang="ru-RU" b="1" dirty="0">
              <a:solidFill>
                <a:srgbClr val="C00000"/>
              </a:solidFill>
            </a:endParaRPr>
          </a:p>
        </p:txBody>
      </p:sp>
      <p:sp>
        <p:nvSpPr>
          <p:cNvPr id="25" name="Овал 24">
            <a:extLst>
              <a:ext uri="{FF2B5EF4-FFF2-40B4-BE49-F238E27FC236}">
                <a16:creationId xmlns:a16="http://schemas.microsoft.com/office/drawing/2014/main" id="{459CD14C-FDD1-BAE7-60B9-18BC9072E97F}"/>
              </a:ext>
            </a:extLst>
          </p:cNvPr>
          <p:cNvSpPr/>
          <p:nvPr/>
        </p:nvSpPr>
        <p:spPr>
          <a:xfrm>
            <a:off x="8737160" y="3640134"/>
            <a:ext cx="108000" cy="108000"/>
          </a:xfrm>
          <a:prstGeom prst="ellips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1" name="TextBox 40">
            <a:extLst>
              <a:ext uri="{FF2B5EF4-FFF2-40B4-BE49-F238E27FC236}">
                <a16:creationId xmlns:a16="http://schemas.microsoft.com/office/drawing/2014/main" id="{F002A1AE-8130-D1F1-0D1A-38FD98BE8C78}"/>
              </a:ext>
            </a:extLst>
          </p:cNvPr>
          <p:cNvSpPr txBox="1"/>
          <p:nvPr/>
        </p:nvSpPr>
        <p:spPr>
          <a:xfrm>
            <a:off x="6742047" y="3518654"/>
            <a:ext cx="423514" cy="369332"/>
          </a:xfrm>
          <a:prstGeom prst="rect">
            <a:avLst/>
          </a:prstGeom>
          <a:noFill/>
        </p:spPr>
        <p:txBody>
          <a:bodyPr wrap="none" rtlCol="0">
            <a:spAutoFit/>
          </a:bodyPr>
          <a:lstStyle/>
          <a:p>
            <a:r>
              <a:rPr lang="en-US" b="1" dirty="0">
                <a:solidFill>
                  <a:schemeClr val="tx1">
                    <a:lumMod val="95000"/>
                    <a:lumOff val="5000"/>
                  </a:schemeClr>
                </a:solidFill>
              </a:rPr>
              <a:t>P</a:t>
            </a:r>
            <a:r>
              <a:rPr lang="ru-RU" b="1" dirty="0">
                <a:solidFill>
                  <a:schemeClr val="tx1">
                    <a:lumMod val="95000"/>
                    <a:lumOff val="5000"/>
                  </a:schemeClr>
                </a:solidFill>
              </a:rPr>
              <a:t>*</a:t>
            </a:r>
          </a:p>
        </p:txBody>
      </p:sp>
      <p:sp>
        <p:nvSpPr>
          <p:cNvPr id="42" name="TextBox 41">
            <a:extLst>
              <a:ext uri="{FF2B5EF4-FFF2-40B4-BE49-F238E27FC236}">
                <a16:creationId xmlns:a16="http://schemas.microsoft.com/office/drawing/2014/main" id="{EB865A61-95E3-C576-9351-C2D508CF5CF6}"/>
              </a:ext>
            </a:extLst>
          </p:cNvPr>
          <p:cNvSpPr txBox="1"/>
          <p:nvPr/>
        </p:nvSpPr>
        <p:spPr>
          <a:xfrm>
            <a:off x="8615770" y="5386308"/>
            <a:ext cx="458780" cy="369332"/>
          </a:xfrm>
          <a:prstGeom prst="rect">
            <a:avLst/>
          </a:prstGeom>
          <a:noFill/>
        </p:spPr>
        <p:txBody>
          <a:bodyPr wrap="none" rtlCol="0">
            <a:spAutoFit/>
          </a:bodyPr>
          <a:lstStyle/>
          <a:p>
            <a:r>
              <a:rPr lang="en-US" b="1" dirty="0">
                <a:solidFill>
                  <a:schemeClr val="tx1">
                    <a:lumMod val="95000"/>
                    <a:lumOff val="5000"/>
                  </a:schemeClr>
                </a:solidFill>
              </a:rPr>
              <a:t>Q</a:t>
            </a:r>
            <a:r>
              <a:rPr lang="ru-RU" b="1" dirty="0">
                <a:solidFill>
                  <a:schemeClr val="tx1">
                    <a:lumMod val="95000"/>
                    <a:lumOff val="5000"/>
                  </a:schemeClr>
                </a:solidFill>
              </a:rPr>
              <a:t>*</a:t>
            </a:r>
          </a:p>
        </p:txBody>
      </p:sp>
      <p:sp>
        <p:nvSpPr>
          <p:cNvPr id="43" name="Номер слайда 42">
            <a:extLst>
              <a:ext uri="{FF2B5EF4-FFF2-40B4-BE49-F238E27FC236}">
                <a16:creationId xmlns:a16="http://schemas.microsoft.com/office/drawing/2014/main" id="{25795F29-7E96-93D2-FBBA-0EBE86F4A4B7}"/>
              </a:ext>
            </a:extLst>
          </p:cNvPr>
          <p:cNvSpPr>
            <a:spLocks noGrp="1"/>
          </p:cNvSpPr>
          <p:nvPr>
            <p:ph type="sldNum" sz="quarter" idx="12"/>
          </p:nvPr>
        </p:nvSpPr>
        <p:spPr/>
        <p:txBody>
          <a:bodyPr/>
          <a:lstStyle/>
          <a:p>
            <a:fld id="{23F470E1-E072-4587-920D-844ED8D976FF}" type="slidenum">
              <a:rPr lang="ru-RU" smtClean="0"/>
              <a:t>5</a:t>
            </a:fld>
            <a:endParaRPr lang="ru-RU"/>
          </a:p>
        </p:txBody>
      </p:sp>
      <p:cxnSp>
        <p:nvCxnSpPr>
          <p:cNvPr id="35" name="Прямая соединительная линия 34">
            <a:extLst>
              <a:ext uri="{FF2B5EF4-FFF2-40B4-BE49-F238E27FC236}">
                <a16:creationId xmlns:a16="http://schemas.microsoft.com/office/drawing/2014/main" id="{D88361DE-0E99-D437-64B8-139DD51242BB}"/>
              </a:ext>
            </a:extLst>
          </p:cNvPr>
          <p:cNvCxnSpPr>
            <a:cxnSpLocks/>
          </p:cNvCxnSpPr>
          <p:nvPr/>
        </p:nvCxnSpPr>
        <p:spPr>
          <a:xfrm flipH="1" flipV="1">
            <a:off x="8230218" y="2098596"/>
            <a:ext cx="1043748" cy="2887424"/>
          </a:xfrm>
          <a:prstGeom prst="line">
            <a:avLst/>
          </a:prstGeom>
          <a:ln>
            <a:prstDash val="dashDot"/>
          </a:ln>
        </p:spPr>
        <p:style>
          <a:lnRef idx="1">
            <a:schemeClr val="accent6"/>
          </a:lnRef>
          <a:fillRef idx="0">
            <a:schemeClr val="accent6"/>
          </a:fillRef>
          <a:effectRef idx="0">
            <a:schemeClr val="accent6"/>
          </a:effectRef>
          <a:fontRef idx="minor">
            <a:schemeClr val="tx1"/>
          </a:fontRef>
        </p:style>
      </p:cxnSp>
      <p:cxnSp>
        <p:nvCxnSpPr>
          <p:cNvPr id="44" name="Прямая соединительная линия 43">
            <a:extLst>
              <a:ext uri="{FF2B5EF4-FFF2-40B4-BE49-F238E27FC236}">
                <a16:creationId xmlns:a16="http://schemas.microsoft.com/office/drawing/2014/main" id="{CF6A688A-9A7B-2C9F-D16B-2E34D4006520}"/>
              </a:ext>
            </a:extLst>
          </p:cNvPr>
          <p:cNvCxnSpPr>
            <a:cxnSpLocks/>
          </p:cNvCxnSpPr>
          <p:nvPr/>
        </p:nvCxnSpPr>
        <p:spPr>
          <a:xfrm flipH="1" flipV="1">
            <a:off x="7316169" y="2813547"/>
            <a:ext cx="2727961" cy="1625216"/>
          </a:xfrm>
          <a:prstGeom prst="line">
            <a:avLst/>
          </a:prstGeom>
          <a:ln>
            <a:prstDash val="dashDot"/>
          </a:ln>
        </p:spPr>
        <p:style>
          <a:lnRef idx="1">
            <a:schemeClr val="accent6"/>
          </a:lnRef>
          <a:fillRef idx="0">
            <a:schemeClr val="accent6"/>
          </a:fillRef>
          <a:effectRef idx="0">
            <a:schemeClr val="accent6"/>
          </a:effectRef>
          <a:fontRef idx="minor">
            <a:schemeClr val="tx1"/>
          </a:fontRef>
        </p:style>
      </p:cxnSp>
      <p:cxnSp>
        <p:nvCxnSpPr>
          <p:cNvPr id="48" name="Прямая со стрелкой 47">
            <a:extLst>
              <a:ext uri="{FF2B5EF4-FFF2-40B4-BE49-F238E27FC236}">
                <a16:creationId xmlns:a16="http://schemas.microsoft.com/office/drawing/2014/main" id="{BAC11B2C-C782-DB6F-4BF2-0C022A4D1E40}"/>
              </a:ext>
            </a:extLst>
          </p:cNvPr>
          <p:cNvCxnSpPr>
            <a:cxnSpLocks/>
          </p:cNvCxnSpPr>
          <p:nvPr/>
        </p:nvCxnSpPr>
        <p:spPr>
          <a:xfrm flipH="1">
            <a:off x="7297749" y="2486032"/>
            <a:ext cx="165270" cy="296287"/>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50" name="Прямая со стрелкой 49">
            <a:extLst>
              <a:ext uri="{FF2B5EF4-FFF2-40B4-BE49-F238E27FC236}">
                <a16:creationId xmlns:a16="http://schemas.microsoft.com/office/drawing/2014/main" id="{FD7D9AEF-EE83-AEEB-AF0A-231148565626}"/>
              </a:ext>
            </a:extLst>
          </p:cNvPr>
          <p:cNvCxnSpPr>
            <a:cxnSpLocks/>
          </p:cNvCxnSpPr>
          <p:nvPr/>
        </p:nvCxnSpPr>
        <p:spPr>
          <a:xfrm flipV="1">
            <a:off x="7596786" y="2152211"/>
            <a:ext cx="577448" cy="192857"/>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57" name="TextBox 56">
            <a:extLst>
              <a:ext uri="{FF2B5EF4-FFF2-40B4-BE49-F238E27FC236}">
                <a16:creationId xmlns:a16="http://schemas.microsoft.com/office/drawing/2014/main" id="{B3D199E8-5E7B-2A74-B7E1-6D8EBEC7C15B}"/>
              </a:ext>
            </a:extLst>
          </p:cNvPr>
          <p:cNvSpPr txBox="1"/>
          <p:nvPr/>
        </p:nvSpPr>
        <p:spPr>
          <a:xfrm>
            <a:off x="7150320" y="2891916"/>
            <a:ext cx="1419640" cy="276999"/>
          </a:xfrm>
          <a:prstGeom prst="rect">
            <a:avLst/>
          </a:prstGeom>
          <a:noFill/>
        </p:spPr>
        <p:txBody>
          <a:bodyPr wrap="square">
            <a:spAutoFit/>
          </a:bodyPr>
          <a:lstStyle/>
          <a:p>
            <a:r>
              <a:rPr lang="ru-RU" sz="1200" dirty="0"/>
              <a:t>более эластичный</a:t>
            </a:r>
          </a:p>
        </p:txBody>
      </p:sp>
      <p:sp>
        <p:nvSpPr>
          <p:cNvPr id="21" name="TextBox 20">
            <a:extLst>
              <a:ext uri="{FF2B5EF4-FFF2-40B4-BE49-F238E27FC236}">
                <a16:creationId xmlns:a16="http://schemas.microsoft.com/office/drawing/2014/main" id="{C7904905-FD9B-0F12-17A1-57E1AD161C73}"/>
              </a:ext>
            </a:extLst>
          </p:cNvPr>
          <p:cNvSpPr txBox="1"/>
          <p:nvPr/>
        </p:nvSpPr>
        <p:spPr>
          <a:xfrm>
            <a:off x="7641493" y="1896176"/>
            <a:ext cx="1419640" cy="276999"/>
          </a:xfrm>
          <a:prstGeom prst="rect">
            <a:avLst/>
          </a:prstGeom>
          <a:noFill/>
        </p:spPr>
        <p:txBody>
          <a:bodyPr wrap="square">
            <a:spAutoFit/>
          </a:bodyPr>
          <a:lstStyle/>
          <a:p>
            <a:r>
              <a:rPr lang="ru-RU" sz="1200" dirty="0"/>
              <a:t>менее эластичный</a:t>
            </a:r>
          </a:p>
        </p:txBody>
      </p:sp>
      <p:sp>
        <p:nvSpPr>
          <p:cNvPr id="27" name="TextBox 26">
            <a:extLst>
              <a:ext uri="{FF2B5EF4-FFF2-40B4-BE49-F238E27FC236}">
                <a16:creationId xmlns:a16="http://schemas.microsoft.com/office/drawing/2014/main" id="{FB07791D-4458-1C04-545C-F67C57968C8C}"/>
              </a:ext>
            </a:extLst>
          </p:cNvPr>
          <p:cNvSpPr txBox="1"/>
          <p:nvPr/>
        </p:nvSpPr>
        <p:spPr>
          <a:xfrm>
            <a:off x="9022337" y="1686537"/>
            <a:ext cx="2575890" cy="1384995"/>
          </a:xfrm>
          <a:prstGeom prst="rect">
            <a:avLst/>
          </a:prstGeom>
          <a:noFill/>
        </p:spPr>
        <p:txBody>
          <a:bodyPr wrap="square">
            <a:spAutoFit/>
          </a:bodyPr>
          <a:lstStyle/>
          <a:p>
            <a:pPr lvl="1"/>
            <a:r>
              <a:rPr lang="ru-RU" sz="1400" b="1" i="0" dirty="0">
                <a:solidFill>
                  <a:srgbClr val="202122"/>
                </a:solidFill>
                <a:effectLst/>
              </a:rPr>
              <a:t>Пример: </a:t>
            </a:r>
          </a:p>
          <a:p>
            <a:pPr lvl="1"/>
            <a:r>
              <a:rPr lang="ru-RU" sz="1400" b="0" i="0" dirty="0">
                <a:solidFill>
                  <a:srgbClr val="202122"/>
                </a:solidFill>
                <a:effectLst/>
              </a:rPr>
              <a:t>Если эластичность равна -2, это означает, что рост цен на один процент приводит к снижению спроса на два процента</a:t>
            </a:r>
            <a:r>
              <a:rPr lang="en-US" sz="1400" dirty="0">
                <a:solidFill>
                  <a:srgbClr val="202122"/>
                </a:solidFill>
              </a:rPr>
              <a:t>.</a:t>
            </a:r>
            <a:endParaRPr lang="en-US" sz="1400" dirty="0"/>
          </a:p>
        </p:txBody>
      </p:sp>
    </p:spTree>
    <p:extLst>
      <p:ext uri="{BB962C8B-B14F-4D97-AF65-F5344CB8AC3E}">
        <p14:creationId xmlns:p14="http://schemas.microsoft.com/office/powerpoint/2010/main" val="416784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Прямая соединительная линия 12">
            <a:extLst>
              <a:ext uri="{FF2B5EF4-FFF2-40B4-BE49-F238E27FC236}">
                <a16:creationId xmlns:a16="http://schemas.microsoft.com/office/drawing/2014/main" id="{4A5FCC8D-176E-47C1-F18D-759A71C5FB67}"/>
              </a:ext>
            </a:extLst>
          </p:cNvPr>
          <p:cNvCxnSpPr>
            <a:cxnSpLocks/>
          </p:cNvCxnSpPr>
          <p:nvPr/>
        </p:nvCxnSpPr>
        <p:spPr>
          <a:xfrm>
            <a:off x="8799939" y="2502078"/>
            <a:ext cx="8781" cy="2466162"/>
          </a:xfrm>
          <a:prstGeom prst="line">
            <a:avLst/>
          </a:prstGeom>
          <a:ln w="19050">
            <a:solidFill>
              <a:srgbClr val="FF0000"/>
            </a:solidFill>
          </a:ln>
        </p:spPr>
        <p:style>
          <a:lnRef idx="2">
            <a:schemeClr val="accent4"/>
          </a:lnRef>
          <a:fillRef idx="0">
            <a:schemeClr val="accent4"/>
          </a:fillRef>
          <a:effectRef idx="1">
            <a:schemeClr val="accent4"/>
          </a:effectRef>
          <a:fontRef idx="minor">
            <a:schemeClr val="tx1"/>
          </a:fontRef>
        </p:style>
      </p:cxnSp>
      <p:cxnSp>
        <p:nvCxnSpPr>
          <p:cNvPr id="6" name="Прямая соединительная линия 5">
            <a:extLst>
              <a:ext uri="{FF2B5EF4-FFF2-40B4-BE49-F238E27FC236}">
                <a16:creationId xmlns:a16="http://schemas.microsoft.com/office/drawing/2014/main" id="{062023A7-A9F7-FF53-A411-80212AD0F655}"/>
              </a:ext>
            </a:extLst>
          </p:cNvPr>
          <p:cNvCxnSpPr>
            <a:cxnSpLocks/>
          </p:cNvCxnSpPr>
          <p:nvPr/>
        </p:nvCxnSpPr>
        <p:spPr>
          <a:xfrm>
            <a:off x="7391899" y="3697334"/>
            <a:ext cx="3058160" cy="0"/>
          </a:xfrm>
          <a:prstGeom prst="line">
            <a:avLst/>
          </a:prstGeom>
          <a:ln w="19050"/>
        </p:spPr>
        <p:style>
          <a:lnRef idx="2">
            <a:schemeClr val="accent4"/>
          </a:lnRef>
          <a:fillRef idx="0">
            <a:schemeClr val="accent4"/>
          </a:fillRef>
          <a:effectRef idx="1">
            <a:schemeClr val="accent4"/>
          </a:effectRef>
          <a:fontRef idx="minor">
            <a:schemeClr val="tx1"/>
          </a:fontRef>
        </p:style>
      </p:cxnSp>
      <p:sp>
        <p:nvSpPr>
          <p:cNvPr id="2" name="Заголовок 1">
            <a:extLst>
              <a:ext uri="{FF2B5EF4-FFF2-40B4-BE49-F238E27FC236}">
                <a16:creationId xmlns:a16="http://schemas.microsoft.com/office/drawing/2014/main" id="{A8764B92-FD22-3615-C3BA-6DFF9724E9D8}"/>
              </a:ext>
            </a:extLst>
          </p:cNvPr>
          <p:cNvSpPr>
            <a:spLocks noGrp="1"/>
          </p:cNvSpPr>
          <p:nvPr>
            <p:ph type="title"/>
          </p:nvPr>
        </p:nvSpPr>
        <p:spPr/>
        <p:txBody>
          <a:bodyPr/>
          <a:lstStyle/>
          <a:p>
            <a:r>
              <a:rPr lang="ru-RU" dirty="0"/>
              <a:t>Как двигаются спрос и предложение</a:t>
            </a:r>
            <a:r>
              <a:rPr lang="en-US" dirty="0"/>
              <a:t>?</a:t>
            </a:r>
            <a:endParaRPr lang="ru-RU"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4208447-6FCA-328D-B6B8-3B441B583717}"/>
                  </a:ext>
                </a:extLst>
              </p:cNvPr>
              <p:cNvSpPr>
                <a:spLocks noGrp="1"/>
              </p:cNvSpPr>
              <p:nvPr>
                <p:ph idx="1"/>
              </p:nvPr>
            </p:nvSpPr>
            <p:spPr>
              <a:xfrm>
                <a:off x="101601" y="1469628"/>
                <a:ext cx="6583473" cy="5114050"/>
              </a:xfrm>
            </p:spPr>
            <p:txBody>
              <a:bodyPr>
                <a:normAutofit lnSpcReduction="10000"/>
              </a:bodyPr>
              <a:lstStyle/>
              <a:p>
                <a:pPr marL="0" indent="0">
                  <a:buNone/>
                </a:pPr>
                <a:r>
                  <a:rPr lang="ru-RU" sz="2000" b="1" dirty="0"/>
                  <a:t>Эластичность предложения по цене (</a:t>
                </a:r>
                <a14:m>
                  <m:oMath xmlns:m="http://schemas.openxmlformats.org/officeDocument/2006/math">
                    <m:sSubSup>
                      <m:sSubSupPr>
                        <m:ctrlPr>
                          <a:rPr lang="ru-RU" sz="2000" b="1" i="1" smtClean="0">
                            <a:latin typeface="Cambria Math" panose="02040503050406030204" pitchFamily="18" charset="0"/>
                          </a:rPr>
                        </m:ctrlPr>
                      </m:sSubSupPr>
                      <m:e>
                        <m:r>
                          <a:rPr lang="en-US" sz="2000" b="1" i="1" smtClean="0">
                            <a:latin typeface="Cambria Math" panose="02040503050406030204" pitchFamily="18" charset="0"/>
                          </a:rPr>
                          <m:t>𝑬</m:t>
                        </m:r>
                      </m:e>
                      <m:sub>
                        <m:r>
                          <a:rPr lang="en-US" sz="2000" b="1" i="1" smtClean="0">
                            <a:latin typeface="Cambria Math" panose="02040503050406030204" pitchFamily="18" charset="0"/>
                          </a:rPr>
                          <m:t>𝑷</m:t>
                        </m:r>
                      </m:sub>
                      <m:sup>
                        <m:r>
                          <a:rPr lang="en-US" sz="2000" b="1" i="1" smtClean="0">
                            <a:latin typeface="Cambria Math" panose="02040503050406030204" pitchFamily="18" charset="0"/>
                          </a:rPr>
                          <m:t>𝑺</m:t>
                        </m:r>
                      </m:sup>
                    </m:sSubSup>
                  </m:oMath>
                </a14:m>
                <a:r>
                  <a:rPr lang="ru-RU" sz="2000" b="1" dirty="0"/>
                  <a:t>) </a:t>
                </a:r>
                <a:r>
                  <a:rPr lang="ru-RU" sz="2000" dirty="0"/>
                  <a:t>- показатель степени чувствительности, изменение предложения на товар</a:t>
                </a:r>
                <a:r>
                  <a:rPr lang="en-US" sz="2000" dirty="0"/>
                  <a:t>/</a:t>
                </a:r>
                <a:r>
                  <a:rPr lang="ru-RU" sz="2000" dirty="0"/>
                  <a:t>услугу в % в следствие изменения его</a:t>
                </a:r>
                <a:r>
                  <a:rPr lang="en-US" sz="2000" dirty="0"/>
                  <a:t>/</a:t>
                </a:r>
                <a:r>
                  <a:rPr lang="ru-RU" sz="2000" dirty="0"/>
                  <a:t>ее цены.</a:t>
                </a:r>
                <a:endParaRPr lang="en-US" sz="2000" dirty="0"/>
              </a:p>
              <a:p>
                <a:pPr lvl="1">
                  <a:buFontTx/>
                  <a:buChar char="−"/>
                </a:pPr>
                <a:r>
                  <a:rPr lang="ru-RU" sz="1800" dirty="0"/>
                  <a:t>Если </a:t>
                </a:r>
                <a14:m>
                  <m:oMath xmlns:m="http://schemas.openxmlformats.org/officeDocument/2006/math">
                    <m:sSubSup>
                      <m:sSubSupPr>
                        <m:ctrlPr>
                          <a:rPr lang="ru-RU" sz="1800" b="1" i="1" smtClean="0">
                            <a:latin typeface="Cambria Math" panose="02040503050406030204" pitchFamily="18" charset="0"/>
                          </a:rPr>
                        </m:ctrlPr>
                      </m:sSubSupPr>
                      <m:e>
                        <m:r>
                          <a:rPr lang="en-US" sz="1800" b="1" i="1" smtClean="0">
                            <a:latin typeface="Cambria Math" panose="02040503050406030204" pitchFamily="18" charset="0"/>
                          </a:rPr>
                          <m:t>𝑬</m:t>
                        </m:r>
                      </m:e>
                      <m:sub>
                        <m:r>
                          <a:rPr lang="en-US" sz="1800" b="1" i="1" smtClean="0">
                            <a:latin typeface="Cambria Math" panose="02040503050406030204" pitchFamily="18" charset="0"/>
                          </a:rPr>
                          <m:t>𝑷</m:t>
                        </m:r>
                      </m:sub>
                      <m:sup>
                        <m:r>
                          <a:rPr lang="en-US" sz="1800" b="1" i="1" smtClean="0">
                            <a:latin typeface="Cambria Math" panose="02040503050406030204" pitchFamily="18" charset="0"/>
                          </a:rPr>
                          <m:t>𝑺</m:t>
                        </m:r>
                      </m:sup>
                    </m:sSubSup>
                  </m:oMath>
                </a14:m>
                <a:r>
                  <a:rPr lang="ru-RU" sz="1800" dirty="0"/>
                  <a:t> </a:t>
                </a:r>
                <a:r>
                  <a:rPr lang="en-US" sz="1800" dirty="0"/>
                  <a:t>=</a:t>
                </a:r>
                <a:r>
                  <a:rPr lang="ru-RU" sz="1800" dirty="0"/>
                  <a:t> ∞, то спрос </a:t>
                </a:r>
                <a:r>
                  <a:rPr lang="ru-RU" sz="1800" dirty="0">
                    <a:solidFill>
                      <a:srgbClr val="FFC000"/>
                    </a:solidFill>
                  </a:rPr>
                  <a:t>абсолютно эластично</a:t>
                </a:r>
                <a:r>
                  <a:rPr lang="ru-RU" sz="1800" dirty="0"/>
                  <a:t>. Это значит, что с небольшим изменением цены на товар предложение на него меняется невероятно сильно.</a:t>
                </a:r>
              </a:p>
              <a:p>
                <a:pPr lvl="1">
                  <a:buFontTx/>
                  <a:buChar char="−"/>
                </a:pPr>
                <a:r>
                  <a:rPr lang="ru-RU" sz="1800" dirty="0"/>
                  <a:t>Если </a:t>
                </a:r>
                <a14:m>
                  <m:oMath xmlns:m="http://schemas.openxmlformats.org/officeDocument/2006/math">
                    <m:sSubSup>
                      <m:sSubSupPr>
                        <m:ctrlPr>
                          <a:rPr lang="ru-RU" sz="1800" b="1" i="1" smtClean="0">
                            <a:latin typeface="Cambria Math" panose="02040503050406030204" pitchFamily="18" charset="0"/>
                          </a:rPr>
                        </m:ctrlPr>
                      </m:sSubSupPr>
                      <m:e>
                        <m:r>
                          <a:rPr lang="en-US" sz="1800" b="1" i="1" smtClean="0">
                            <a:latin typeface="Cambria Math" panose="02040503050406030204" pitchFamily="18" charset="0"/>
                          </a:rPr>
                          <m:t>𝑬</m:t>
                        </m:r>
                      </m:e>
                      <m:sub>
                        <m:r>
                          <a:rPr lang="en-US" sz="1800" b="1" i="1" smtClean="0">
                            <a:latin typeface="Cambria Math" panose="02040503050406030204" pitchFamily="18" charset="0"/>
                          </a:rPr>
                          <m:t>𝑷</m:t>
                        </m:r>
                      </m:sub>
                      <m:sup>
                        <m:r>
                          <a:rPr lang="en-US" sz="1800" b="1" i="1" smtClean="0">
                            <a:latin typeface="Cambria Math" panose="02040503050406030204" pitchFamily="18" charset="0"/>
                          </a:rPr>
                          <m:t>𝑺</m:t>
                        </m:r>
                      </m:sup>
                    </m:sSubSup>
                  </m:oMath>
                </a14:m>
                <a:r>
                  <a:rPr lang="ru-RU" sz="1800" dirty="0"/>
                  <a:t> = 0, то предложение </a:t>
                </a:r>
                <a:r>
                  <a:rPr lang="ru-RU" sz="1800" dirty="0">
                    <a:solidFill>
                      <a:srgbClr val="FF0000"/>
                    </a:solidFill>
                  </a:rPr>
                  <a:t>абсолютно неэластично</a:t>
                </a:r>
                <a:r>
                  <a:rPr lang="ru-RU" sz="1800" dirty="0"/>
                  <a:t>. Это значит, что как бы ни менялась цена, величина предложения меняться не будет.</a:t>
                </a:r>
              </a:p>
              <a:p>
                <a:pPr lvl="1">
                  <a:buFontTx/>
                  <a:buChar char="−"/>
                </a:pPr>
                <a:r>
                  <a:rPr lang="ru-RU" sz="1800" dirty="0"/>
                  <a:t>В остальных случаях предложение может быть более или менее эластично:</a:t>
                </a:r>
              </a:p>
              <a:p>
                <a:pPr lvl="2"/>
                <a:r>
                  <a:rPr lang="ru-RU" sz="1400" dirty="0"/>
                  <a:t>Если </a:t>
                </a:r>
                <a:r>
                  <a:rPr lang="ru-RU" sz="1400" b="1" dirty="0"/>
                  <a:t>0</a:t>
                </a:r>
                <a14:m>
                  <m:oMath xmlns:m="http://schemas.openxmlformats.org/officeDocument/2006/math">
                    <m:r>
                      <a:rPr lang="en-US" sz="1400" b="1" i="0" smtClean="0">
                        <a:latin typeface="Cambria Math" panose="02040503050406030204" pitchFamily="18" charset="0"/>
                      </a:rPr>
                      <m:t>&gt;</m:t>
                    </m:r>
                    <m:sSubSup>
                      <m:sSubSupPr>
                        <m:ctrlPr>
                          <a:rPr lang="ru-RU" sz="1400" b="1" i="1" smtClean="0">
                            <a:latin typeface="Cambria Math" panose="02040503050406030204" pitchFamily="18" charset="0"/>
                          </a:rPr>
                        </m:ctrlPr>
                      </m:sSubSupPr>
                      <m:e>
                        <m:r>
                          <a:rPr lang="en-US" sz="1400" b="1" i="1" smtClean="0">
                            <a:latin typeface="Cambria Math" panose="02040503050406030204" pitchFamily="18" charset="0"/>
                          </a:rPr>
                          <m:t>𝑬</m:t>
                        </m:r>
                      </m:e>
                      <m:sub>
                        <m:r>
                          <a:rPr lang="en-US" sz="1400" b="1" i="1" smtClean="0">
                            <a:latin typeface="Cambria Math" panose="02040503050406030204" pitchFamily="18" charset="0"/>
                          </a:rPr>
                          <m:t>𝑷</m:t>
                        </m:r>
                      </m:sub>
                      <m:sup>
                        <m:r>
                          <a:rPr lang="en-US" sz="1400" b="1" i="1" smtClean="0">
                            <a:latin typeface="Cambria Math" panose="02040503050406030204" pitchFamily="18" charset="0"/>
                          </a:rPr>
                          <m:t>𝑺</m:t>
                        </m:r>
                      </m:sup>
                    </m:sSubSup>
                  </m:oMath>
                </a14:m>
                <a:r>
                  <a:rPr lang="ru-RU" sz="1400" b="1" dirty="0"/>
                  <a:t> </a:t>
                </a:r>
                <a:r>
                  <a:rPr lang="en-US" sz="1400" b="1" dirty="0"/>
                  <a:t>&gt; </a:t>
                </a:r>
                <a:r>
                  <a:rPr lang="ru-RU" sz="1400" b="1" dirty="0"/>
                  <a:t>1</a:t>
                </a:r>
                <a:r>
                  <a:rPr lang="en-US" sz="1400" dirty="0"/>
                  <a:t>: </a:t>
                </a:r>
                <a:r>
                  <a:rPr lang="ru-RU" sz="1400" dirty="0"/>
                  <a:t>предложение изменяется меньше, чем цена</a:t>
                </a:r>
                <a:r>
                  <a:rPr lang="en-US" sz="1400" dirty="0"/>
                  <a:t>;</a:t>
                </a:r>
                <a:endParaRPr lang="ru-RU" sz="1400" dirty="0"/>
              </a:p>
              <a:p>
                <a:pPr lvl="2"/>
                <a:r>
                  <a:rPr lang="ru-RU" sz="1400" dirty="0"/>
                  <a:t>Если</a:t>
                </a:r>
                <a:r>
                  <a:rPr lang="ru-RU" sz="1400" b="1" dirty="0"/>
                  <a:t> </a:t>
                </a:r>
                <a14:m>
                  <m:oMath xmlns:m="http://schemas.openxmlformats.org/officeDocument/2006/math">
                    <m:sSubSup>
                      <m:sSubSupPr>
                        <m:ctrlPr>
                          <a:rPr lang="ru-RU" sz="1400" b="1" i="1" smtClean="0">
                            <a:latin typeface="Cambria Math" panose="02040503050406030204" pitchFamily="18" charset="0"/>
                          </a:rPr>
                        </m:ctrlPr>
                      </m:sSubSupPr>
                      <m:e>
                        <m:r>
                          <a:rPr lang="en-US" sz="1400" b="1" i="1" smtClean="0">
                            <a:latin typeface="Cambria Math" panose="02040503050406030204" pitchFamily="18" charset="0"/>
                          </a:rPr>
                          <m:t>𝑬</m:t>
                        </m:r>
                      </m:e>
                      <m:sub>
                        <m:r>
                          <a:rPr lang="en-US" sz="1400" b="1" i="1" smtClean="0">
                            <a:latin typeface="Cambria Math" panose="02040503050406030204" pitchFamily="18" charset="0"/>
                          </a:rPr>
                          <m:t>𝑷</m:t>
                        </m:r>
                      </m:sub>
                      <m:sup>
                        <m:r>
                          <a:rPr lang="en-US" sz="1400" b="1" i="1" smtClean="0">
                            <a:latin typeface="Cambria Math" panose="02040503050406030204" pitchFamily="18" charset="0"/>
                          </a:rPr>
                          <m:t>𝑺</m:t>
                        </m:r>
                      </m:sup>
                    </m:sSubSup>
                  </m:oMath>
                </a14:m>
                <a:r>
                  <a:rPr lang="ru-RU" sz="1400" b="1" dirty="0"/>
                  <a:t> = 1</a:t>
                </a:r>
                <a:r>
                  <a:rPr lang="ru-RU" sz="1400" dirty="0"/>
                  <a:t>: это единичная эластичность, предложение меняется пропорционально цене</a:t>
                </a:r>
                <a:r>
                  <a:rPr lang="en-US" sz="1400" dirty="0"/>
                  <a:t>;</a:t>
                </a:r>
                <a:endParaRPr lang="ru-RU" sz="1400" dirty="0"/>
              </a:p>
              <a:p>
                <a:pPr lvl="2"/>
                <a:r>
                  <a:rPr lang="ru-RU" sz="1400" dirty="0"/>
                  <a:t>Если</a:t>
                </a:r>
                <a:r>
                  <a:rPr lang="en-US" sz="1400" dirty="0"/>
                  <a:t> </a:t>
                </a:r>
                <a:r>
                  <a:rPr lang="en-US" sz="1400" b="1" dirty="0"/>
                  <a:t>1</a:t>
                </a:r>
                <a:r>
                  <a:rPr lang="ru-RU" sz="1400" b="1" dirty="0"/>
                  <a:t> </a:t>
                </a:r>
                <a:r>
                  <a:rPr lang="en-US" sz="1400" b="1" dirty="0"/>
                  <a:t>&lt;</a:t>
                </a:r>
                <a:r>
                  <a:rPr lang="ru-RU" sz="1400" b="1" dirty="0"/>
                  <a:t> </a:t>
                </a:r>
                <a14:m>
                  <m:oMath xmlns:m="http://schemas.openxmlformats.org/officeDocument/2006/math">
                    <m:sSubSup>
                      <m:sSubSupPr>
                        <m:ctrlPr>
                          <a:rPr lang="ru-RU" sz="1400" b="1" i="1" smtClean="0">
                            <a:latin typeface="Cambria Math" panose="02040503050406030204" pitchFamily="18" charset="0"/>
                          </a:rPr>
                        </m:ctrlPr>
                      </m:sSubSupPr>
                      <m:e>
                        <m:r>
                          <a:rPr lang="en-US" sz="1400" b="1" i="1" smtClean="0">
                            <a:latin typeface="Cambria Math" panose="02040503050406030204" pitchFamily="18" charset="0"/>
                          </a:rPr>
                          <m:t>𝑬</m:t>
                        </m:r>
                      </m:e>
                      <m:sub>
                        <m:r>
                          <a:rPr lang="en-US" sz="1400" b="1" i="1" smtClean="0">
                            <a:latin typeface="Cambria Math" panose="02040503050406030204" pitchFamily="18" charset="0"/>
                          </a:rPr>
                          <m:t>𝑷</m:t>
                        </m:r>
                      </m:sub>
                      <m:sup>
                        <m:r>
                          <a:rPr lang="en-US" sz="1400" b="1" i="1" smtClean="0">
                            <a:latin typeface="Cambria Math" panose="02040503050406030204" pitchFamily="18" charset="0"/>
                          </a:rPr>
                          <m:t>𝑺</m:t>
                        </m:r>
                      </m:sup>
                    </m:sSubSup>
                  </m:oMath>
                </a14:m>
                <a:r>
                  <a:rPr lang="ru-RU" sz="1400" b="1" dirty="0"/>
                  <a:t> </a:t>
                </a:r>
                <a:r>
                  <a:rPr lang="en-US" sz="1400" b="1" dirty="0"/>
                  <a:t>&lt; </a:t>
                </a:r>
                <a:r>
                  <a:rPr lang="ru-RU" sz="1400" b="1" dirty="0"/>
                  <a:t>∞</a:t>
                </a:r>
                <a:r>
                  <a:rPr lang="en-US" sz="1400" dirty="0"/>
                  <a:t>, </a:t>
                </a:r>
                <a:r>
                  <a:rPr lang="ru-RU" sz="1400" dirty="0"/>
                  <a:t>то спрос эластичен (спрос изменяется больше, чем цена: товары имеют замену либо не играют важной роли для потребителя)</a:t>
                </a:r>
                <a:endParaRPr lang="en-US" sz="1400" dirty="0"/>
              </a:p>
              <a:p>
                <a:r>
                  <a:rPr lang="ru-RU" sz="2000" dirty="0"/>
                  <a:t>Есть и другие виды эластичности, но рассматривать мы их не будем.</a:t>
                </a:r>
              </a:p>
            </p:txBody>
          </p:sp>
        </mc:Choice>
        <mc:Fallback xmlns="">
          <p:sp>
            <p:nvSpPr>
              <p:cNvPr id="3" name="Объект 2">
                <a:extLst>
                  <a:ext uri="{FF2B5EF4-FFF2-40B4-BE49-F238E27FC236}">
                    <a16:creationId xmlns:a16="http://schemas.microsoft.com/office/drawing/2014/main" id="{44208447-6FCA-328D-B6B8-3B441B583717}"/>
                  </a:ext>
                </a:extLst>
              </p:cNvPr>
              <p:cNvSpPr>
                <a:spLocks noGrp="1" noRot="1" noChangeAspect="1" noMove="1" noResize="1" noEditPoints="1" noAdjustHandles="1" noChangeArrowheads="1" noChangeShapeType="1" noTextEdit="1"/>
              </p:cNvSpPr>
              <p:nvPr>
                <p:ph idx="1"/>
              </p:nvPr>
            </p:nvSpPr>
            <p:spPr>
              <a:xfrm>
                <a:off x="101601" y="1469628"/>
                <a:ext cx="6583473" cy="5114050"/>
              </a:xfrm>
              <a:blipFill>
                <a:blip r:embed="rId2"/>
                <a:stretch>
                  <a:fillRect l="-1019" t="-1430" r="-370"/>
                </a:stretch>
              </a:blipFill>
            </p:spPr>
            <p:txBody>
              <a:bodyPr/>
              <a:lstStyle/>
              <a:p>
                <a:r>
                  <a:rPr lang="ru-RU">
                    <a:noFill/>
                  </a:rPr>
                  <a:t> </a:t>
                </a:r>
              </a:p>
            </p:txBody>
          </p:sp>
        </mc:Fallback>
      </mc:AlternateContent>
      <p:cxnSp>
        <p:nvCxnSpPr>
          <p:cNvPr id="7" name="Прямая со стрелкой 6">
            <a:extLst>
              <a:ext uri="{FF2B5EF4-FFF2-40B4-BE49-F238E27FC236}">
                <a16:creationId xmlns:a16="http://schemas.microsoft.com/office/drawing/2014/main" id="{B7CDE2AB-4F96-B9E9-85F5-15B49C117217}"/>
              </a:ext>
            </a:extLst>
          </p:cNvPr>
          <p:cNvCxnSpPr>
            <a:cxnSpLocks/>
          </p:cNvCxnSpPr>
          <p:nvPr/>
        </p:nvCxnSpPr>
        <p:spPr>
          <a:xfrm flipH="1" flipV="1">
            <a:off x="7132320" y="1991360"/>
            <a:ext cx="20320" cy="34101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Прямая со стрелкой 9">
            <a:extLst>
              <a:ext uri="{FF2B5EF4-FFF2-40B4-BE49-F238E27FC236}">
                <a16:creationId xmlns:a16="http://schemas.microsoft.com/office/drawing/2014/main" id="{6B81B6A7-4E8E-4E07-CE87-010D489267C9}"/>
              </a:ext>
            </a:extLst>
          </p:cNvPr>
          <p:cNvCxnSpPr>
            <a:cxnSpLocks/>
          </p:cNvCxnSpPr>
          <p:nvPr/>
        </p:nvCxnSpPr>
        <p:spPr>
          <a:xfrm>
            <a:off x="7152640" y="5401548"/>
            <a:ext cx="374904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EF33DD4C-BCAD-3F04-5768-6D55BE3D4285}"/>
              </a:ext>
            </a:extLst>
          </p:cNvPr>
          <p:cNvSpPr txBox="1"/>
          <p:nvPr/>
        </p:nvSpPr>
        <p:spPr>
          <a:xfrm>
            <a:off x="6998591" y="1656358"/>
            <a:ext cx="308098" cy="369332"/>
          </a:xfrm>
          <a:prstGeom prst="rect">
            <a:avLst/>
          </a:prstGeom>
          <a:noFill/>
        </p:spPr>
        <p:txBody>
          <a:bodyPr wrap="none" rtlCol="0">
            <a:spAutoFit/>
          </a:bodyPr>
          <a:lstStyle/>
          <a:p>
            <a:r>
              <a:rPr lang="en-US" b="1" dirty="0">
                <a:solidFill>
                  <a:srgbClr val="0070C0"/>
                </a:solidFill>
              </a:rPr>
              <a:t>P</a:t>
            </a:r>
            <a:endParaRPr lang="ru-RU" b="1" dirty="0">
              <a:solidFill>
                <a:srgbClr val="0070C0"/>
              </a:solidFill>
            </a:endParaRPr>
          </a:p>
        </p:txBody>
      </p:sp>
      <p:sp>
        <p:nvSpPr>
          <p:cNvPr id="16" name="TextBox 15">
            <a:extLst>
              <a:ext uri="{FF2B5EF4-FFF2-40B4-BE49-F238E27FC236}">
                <a16:creationId xmlns:a16="http://schemas.microsoft.com/office/drawing/2014/main" id="{A8060818-215A-04F3-393A-F0AC529E1A83}"/>
              </a:ext>
            </a:extLst>
          </p:cNvPr>
          <p:cNvSpPr txBox="1"/>
          <p:nvPr/>
        </p:nvSpPr>
        <p:spPr>
          <a:xfrm>
            <a:off x="10901680" y="5216882"/>
            <a:ext cx="343364" cy="369332"/>
          </a:xfrm>
          <a:prstGeom prst="rect">
            <a:avLst/>
          </a:prstGeom>
          <a:noFill/>
        </p:spPr>
        <p:txBody>
          <a:bodyPr wrap="none" rtlCol="0">
            <a:spAutoFit/>
          </a:bodyPr>
          <a:lstStyle/>
          <a:p>
            <a:r>
              <a:rPr lang="en-US" b="1" dirty="0">
                <a:solidFill>
                  <a:srgbClr val="0070C0"/>
                </a:solidFill>
              </a:rPr>
              <a:t>Q</a:t>
            </a:r>
            <a:endParaRPr lang="ru-RU" b="1" dirty="0">
              <a:solidFill>
                <a:srgbClr val="0070C0"/>
              </a:solidFill>
            </a:endParaRPr>
          </a:p>
        </p:txBody>
      </p:sp>
      <p:sp>
        <p:nvSpPr>
          <p:cNvPr id="25" name="Овал 24">
            <a:extLst>
              <a:ext uri="{FF2B5EF4-FFF2-40B4-BE49-F238E27FC236}">
                <a16:creationId xmlns:a16="http://schemas.microsoft.com/office/drawing/2014/main" id="{459CD14C-FDD1-BAE7-60B9-18BC9072E97F}"/>
              </a:ext>
            </a:extLst>
          </p:cNvPr>
          <p:cNvSpPr/>
          <p:nvPr/>
        </p:nvSpPr>
        <p:spPr>
          <a:xfrm>
            <a:off x="8737160" y="3640134"/>
            <a:ext cx="108000" cy="108000"/>
          </a:xfrm>
          <a:prstGeom prst="ellips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1" name="TextBox 40">
            <a:extLst>
              <a:ext uri="{FF2B5EF4-FFF2-40B4-BE49-F238E27FC236}">
                <a16:creationId xmlns:a16="http://schemas.microsoft.com/office/drawing/2014/main" id="{F002A1AE-8130-D1F1-0D1A-38FD98BE8C78}"/>
              </a:ext>
            </a:extLst>
          </p:cNvPr>
          <p:cNvSpPr txBox="1"/>
          <p:nvPr/>
        </p:nvSpPr>
        <p:spPr>
          <a:xfrm>
            <a:off x="6742047" y="3518654"/>
            <a:ext cx="423514" cy="369332"/>
          </a:xfrm>
          <a:prstGeom prst="rect">
            <a:avLst/>
          </a:prstGeom>
          <a:noFill/>
        </p:spPr>
        <p:txBody>
          <a:bodyPr wrap="none" rtlCol="0">
            <a:spAutoFit/>
          </a:bodyPr>
          <a:lstStyle/>
          <a:p>
            <a:r>
              <a:rPr lang="en-US" b="1" dirty="0">
                <a:solidFill>
                  <a:schemeClr val="tx1">
                    <a:lumMod val="95000"/>
                    <a:lumOff val="5000"/>
                  </a:schemeClr>
                </a:solidFill>
              </a:rPr>
              <a:t>P</a:t>
            </a:r>
            <a:r>
              <a:rPr lang="ru-RU" b="1" dirty="0">
                <a:solidFill>
                  <a:schemeClr val="tx1">
                    <a:lumMod val="95000"/>
                    <a:lumOff val="5000"/>
                  </a:schemeClr>
                </a:solidFill>
              </a:rPr>
              <a:t>*</a:t>
            </a:r>
          </a:p>
        </p:txBody>
      </p:sp>
      <p:sp>
        <p:nvSpPr>
          <p:cNvPr id="42" name="TextBox 41">
            <a:extLst>
              <a:ext uri="{FF2B5EF4-FFF2-40B4-BE49-F238E27FC236}">
                <a16:creationId xmlns:a16="http://schemas.microsoft.com/office/drawing/2014/main" id="{EB865A61-95E3-C576-9351-C2D508CF5CF6}"/>
              </a:ext>
            </a:extLst>
          </p:cNvPr>
          <p:cNvSpPr txBox="1"/>
          <p:nvPr/>
        </p:nvSpPr>
        <p:spPr>
          <a:xfrm>
            <a:off x="8615770" y="5386308"/>
            <a:ext cx="458780" cy="369332"/>
          </a:xfrm>
          <a:prstGeom prst="rect">
            <a:avLst/>
          </a:prstGeom>
          <a:noFill/>
        </p:spPr>
        <p:txBody>
          <a:bodyPr wrap="none" rtlCol="0">
            <a:spAutoFit/>
          </a:bodyPr>
          <a:lstStyle/>
          <a:p>
            <a:r>
              <a:rPr lang="en-US" b="1" dirty="0">
                <a:solidFill>
                  <a:schemeClr val="tx1">
                    <a:lumMod val="95000"/>
                    <a:lumOff val="5000"/>
                  </a:schemeClr>
                </a:solidFill>
              </a:rPr>
              <a:t>Q</a:t>
            </a:r>
            <a:r>
              <a:rPr lang="ru-RU" b="1" dirty="0">
                <a:solidFill>
                  <a:schemeClr val="tx1">
                    <a:lumMod val="95000"/>
                    <a:lumOff val="5000"/>
                  </a:schemeClr>
                </a:solidFill>
              </a:rPr>
              <a:t>*</a:t>
            </a:r>
          </a:p>
        </p:txBody>
      </p:sp>
      <p:sp>
        <p:nvSpPr>
          <p:cNvPr id="43" name="Номер слайда 42">
            <a:extLst>
              <a:ext uri="{FF2B5EF4-FFF2-40B4-BE49-F238E27FC236}">
                <a16:creationId xmlns:a16="http://schemas.microsoft.com/office/drawing/2014/main" id="{25795F29-7E96-93D2-FBBA-0EBE86F4A4B7}"/>
              </a:ext>
            </a:extLst>
          </p:cNvPr>
          <p:cNvSpPr>
            <a:spLocks noGrp="1"/>
          </p:cNvSpPr>
          <p:nvPr>
            <p:ph type="sldNum" sz="quarter" idx="12"/>
          </p:nvPr>
        </p:nvSpPr>
        <p:spPr/>
        <p:txBody>
          <a:bodyPr/>
          <a:lstStyle/>
          <a:p>
            <a:fld id="{23F470E1-E072-4587-920D-844ED8D976FF}" type="slidenum">
              <a:rPr lang="ru-RU" smtClean="0"/>
              <a:t>6</a:t>
            </a:fld>
            <a:endParaRPr lang="ru-RU"/>
          </a:p>
        </p:txBody>
      </p:sp>
      <p:sp>
        <p:nvSpPr>
          <p:cNvPr id="27" name="TextBox 26">
            <a:extLst>
              <a:ext uri="{FF2B5EF4-FFF2-40B4-BE49-F238E27FC236}">
                <a16:creationId xmlns:a16="http://schemas.microsoft.com/office/drawing/2014/main" id="{FB07791D-4458-1C04-545C-F67C57968C8C}"/>
              </a:ext>
            </a:extLst>
          </p:cNvPr>
          <p:cNvSpPr txBox="1"/>
          <p:nvPr/>
        </p:nvSpPr>
        <p:spPr>
          <a:xfrm>
            <a:off x="8737160" y="3796573"/>
            <a:ext cx="2575890" cy="1600438"/>
          </a:xfrm>
          <a:prstGeom prst="rect">
            <a:avLst/>
          </a:prstGeom>
          <a:noFill/>
        </p:spPr>
        <p:txBody>
          <a:bodyPr wrap="square">
            <a:spAutoFit/>
          </a:bodyPr>
          <a:lstStyle/>
          <a:p>
            <a:pPr lvl="1"/>
            <a:r>
              <a:rPr lang="ru-RU" sz="1400" b="1" i="0" dirty="0">
                <a:solidFill>
                  <a:srgbClr val="202122"/>
                </a:solidFill>
                <a:effectLst/>
              </a:rPr>
              <a:t>Пример: </a:t>
            </a:r>
          </a:p>
          <a:p>
            <a:pPr lvl="1"/>
            <a:r>
              <a:rPr lang="ru-RU" sz="1400" b="0" i="0" dirty="0">
                <a:solidFill>
                  <a:srgbClr val="202122"/>
                </a:solidFill>
                <a:effectLst/>
              </a:rPr>
              <a:t>Если эластичность равна 2, это означает, что рост цен на один процент приводит к </a:t>
            </a:r>
            <a:r>
              <a:rPr lang="ru-RU" sz="1400" dirty="0">
                <a:solidFill>
                  <a:srgbClr val="202122"/>
                </a:solidFill>
              </a:rPr>
              <a:t>увеличению</a:t>
            </a:r>
            <a:r>
              <a:rPr lang="ru-RU" sz="1400" b="0" i="0" dirty="0">
                <a:solidFill>
                  <a:srgbClr val="202122"/>
                </a:solidFill>
                <a:effectLst/>
              </a:rPr>
              <a:t> предложения на два процента</a:t>
            </a:r>
            <a:r>
              <a:rPr lang="en-US" sz="1400" dirty="0">
                <a:solidFill>
                  <a:srgbClr val="202122"/>
                </a:solidFill>
              </a:rPr>
              <a:t>.</a:t>
            </a:r>
            <a:endParaRPr lang="en-US" sz="1400" dirty="0"/>
          </a:p>
        </p:txBody>
      </p:sp>
      <p:cxnSp>
        <p:nvCxnSpPr>
          <p:cNvPr id="5" name="Прямая соединительная линия 4">
            <a:extLst>
              <a:ext uri="{FF2B5EF4-FFF2-40B4-BE49-F238E27FC236}">
                <a16:creationId xmlns:a16="http://schemas.microsoft.com/office/drawing/2014/main" id="{400A4BEF-77FD-1103-F015-41111F4E2DC6}"/>
              </a:ext>
            </a:extLst>
          </p:cNvPr>
          <p:cNvCxnSpPr/>
          <p:nvPr/>
        </p:nvCxnSpPr>
        <p:spPr>
          <a:xfrm flipV="1">
            <a:off x="7518400" y="2428240"/>
            <a:ext cx="2580640" cy="2550160"/>
          </a:xfrm>
          <a:prstGeom prst="line">
            <a:avLst/>
          </a:prstGeom>
          <a:ln w="19050"/>
        </p:spPr>
        <p:style>
          <a:lnRef idx="1">
            <a:schemeClr val="accent2"/>
          </a:lnRef>
          <a:fillRef idx="0">
            <a:schemeClr val="accent2"/>
          </a:fillRef>
          <a:effectRef idx="0">
            <a:schemeClr val="accent2"/>
          </a:effectRef>
          <a:fontRef idx="minor">
            <a:schemeClr val="tx1"/>
          </a:fontRef>
        </p:style>
      </p:cxnSp>
      <p:sp>
        <p:nvSpPr>
          <p:cNvPr id="8" name="TextBox 7">
            <a:extLst>
              <a:ext uri="{FF2B5EF4-FFF2-40B4-BE49-F238E27FC236}">
                <a16:creationId xmlns:a16="http://schemas.microsoft.com/office/drawing/2014/main" id="{60E029E7-2647-B11B-D4D1-2C8B041081D5}"/>
              </a:ext>
            </a:extLst>
          </p:cNvPr>
          <p:cNvSpPr txBox="1"/>
          <p:nvPr/>
        </p:nvSpPr>
        <p:spPr>
          <a:xfrm>
            <a:off x="9643295" y="2228334"/>
            <a:ext cx="293670" cy="369332"/>
          </a:xfrm>
          <a:prstGeom prst="rect">
            <a:avLst/>
          </a:prstGeom>
          <a:noFill/>
        </p:spPr>
        <p:txBody>
          <a:bodyPr wrap="none" rtlCol="0">
            <a:spAutoFit/>
          </a:bodyPr>
          <a:lstStyle/>
          <a:p>
            <a:r>
              <a:rPr lang="en-US" b="1" dirty="0">
                <a:solidFill>
                  <a:srgbClr val="C00000"/>
                </a:solidFill>
              </a:rPr>
              <a:t>S</a:t>
            </a:r>
            <a:endParaRPr lang="ru-RU" b="1" dirty="0">
              <a:solidFill>
                <a:srgbClr val="C00000"/>
              </a:solidFill>
            </a:endParaRPr>
          </a:p>
        </p:txBody>
      </p:sp>
      <p:cxnSp>
        <p:nvCxnSpPr>
          <p:cNvPr id="9" name="Прямая соединительная линия 8">
            <a:extLst>
              <a:ext uri="{FF2B5EF4-FFF2-40B4-BE49-F238E27FC236}">
                <a16:creationId xmlns:a16="http://schemas.microsoft.com/office/drawing/2014/main" id="{3E6D719F-7B71-1F23-F885-CBFB149BB01D}"/>
              </a:ext>
            </a:extLst>
          </p:cNvPr>
          <p:cNvCxnSpPr>
            <a:cxnSpLocks/>
          </p:cNvCxnSpPr>
          <p:nvPr/>
        </p:nvCxnSpPr>
        <p:spPr>
          <a:xfrm flipV="1">
            <a:off x="7977084" y="2271038"/>
            <a:ext cx="1610227" cy="2830155"/>
          </a:xfrm>
          <a:prstGeom prst="line">
            <a:avLst/>
          </a:prstGeom>
          <a:ln w="3175">
            <a:prstDash val="dashDot"/>
          </a:ln>
        </p:spPr>
        <p:style>
          <a:lnRef idx="1">
            <a:schemeClr val="accent2"/>
          </a:lnRef>
          <a:fillRef idx="0">
            <a:schemeClr val="accent2"/>
          </a:fillRef>
          <a:effectRef idx="0">
            <a:schemeClr val="accent2"/>
          </a:effectRef>
          <a:fontRef idx="minor">
            <a:schemeClr val="tx1"/>
          </a:fontRef>
        </p:style>
      </p:cxnSp>
      <p:cxnSp>
        <p:nvCxnSpPr>
          <p:cNvPr id="11" name="Прямая соединительная линия 10">
            <a:extLst>
              <a:ext uri="{FF2B5EF4-FFF2-40B4-BE49-F238E27FC236}">
                <a16:creationId xmlns:a16="http://schemas.microsoft.com/office/drawing/2014/main" id="{5D58D147-38CD-6BEA-17DB-D1D30C6D142C}"/>
              </a:ext>
            </a:extLst>
          </p:cNvPr>
          <p:cNvCxnSpPr>
            <a:cxnSpLocks/>
          </p:cNvCxnSpPr>
          <p:nvPr/>
        </p:nvCxnSpPr>
        <p:spPr>
          <a:xfrm flipV="1">
            <a:off x="7394160" y="2845749"/>
            <a:ext cx="2794000" cy="1734939"/>
          </a:xfrm>
          <a:prstGeom prst="line">
            <a:avLst/>
          </a:prstGeom>
          <a:ln w="3175">
            <a:prstDash val="dashDot"/>
          </a:ln>
        </p:spPr>
        <p:style>
          <a:lnRef idx="1">
            <a:schemeClr val="accent2"/>
          </a:lnRef>
          <a:fillRef idx="0">
            <a:schemeClr val="accent2"/>
          </a:fillRef>
          <a:effectRef idx="0">
            <a:schemeClr val="accent2"/>
          </a:effectRef>
          <a:fontRef idx="minor">
            <a:schemeClr val="tx1"/>
          </a:fontRef>
        </p:style>
      </p:cxnSp>
      <p:cxnSp>
        <p:nvCxnSpPr>
          <p:cNvPr id="12" name="Прямая со стрелкой 11">
            <a:extLst>
              <a:ext uri="{FF2B5EF4-FFF2-40B4-BE49-F238E27FC236}">
                <a16:creationId xmlns:a16="http://schemas.microsoft.com/office/drawing/2014/main" id="{89022802-60BE-AB88-7B43-C839ACB11E39}"/>
              </a:ext>
            </a:extLst>
          </p:cNvPr>
          <p:cNvCxnSpPr>
            <a:cxnSpLocks/>
          </p:cNvCxnSpPr>
          <p:nvPr/>
        </p:nvCxnSpPr>
        <p:spPr>
          <a:xfrm>
            <a:off x="10124544" y="2508024"/>
            <a:ext cx="98736" cy="27676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4" name="Прямая со стрелкой 13">
            <a:extLst>
              <a:ext uri="{FF2B5EF4-FFF2-40B4-BE49-F238E27FC236}">
                <a16:creationId xmlns:a16="http://schemas.microsoft.com/office/drawing/2014/main" id="{912427DA-0B9D-3C0D-DE50-276507D67674}"/>
              </a:ext>
            </a:extLst>
          </p:cNvPr>
          <p:cNvCxnSpPr>
            <a:cxnSpLocks/>
          </p:cNvCxnSpPr>
          <p:nvPr/>
        </p:nvCxnSpPr>
        <p:spPr>
          <a:xfrm flipH="1" flipV="1">
            <a:off x="9643295" y="2211448"/>
            <a:ext cx="329715" cy="12831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569CBA5B-C076-3913-3861-14BEE55372ED}"/>
              </a:ext>
            </a:extLst>
          </p:cNvPr>
          <p:cNvSpPr txBox="1"/>
          <p:nvPr/>
        </p:nvSpPr>
        <p:spPr>
          <a:xfrm>
            <a:off x="9161265" y="1943788"/>
            <a:ext cx="1394975" cy="276999"/>
          </a:xfrm>
          <a:prstGeom prst="rect">
            <a:avLst/>
          </a:prstGeom>
          <a:noFill/>
        </p:spPr>
        <p:txBody>
          <a:bodyPr wrap="square">
            <a:spAutoFit/>
          </a:bodyPr>
          <a:lstStyle/>
          <a:p>
            <a:r>
              <a:rPr lang="ru-RU" sz="1200" dirty="0"/>
              <a:t>менее эластично</a:t>
            </a:r>
          </a:p>
        </p:txBody>
      </p:sp>
      <p:sp>
        <p:nvSpPr>
          <p:cNvPr id="18" name="TextBox 17">
            <a:extLst>
              <a:ext uri="{FF2B5EF4-FFF2-40B4-BE49-F238E27FC236}">
                <a16:creationId xmlns:a16="http://schemas.microsoft.com/office/drawing/2014/main" id="{873A598D-483D-BCE3-394B-83A27F6FA3D1}"/>
              </a:ext>
            </a:extLst>
          </p:cNvPr>
          <p:cNvSpPr txBox="1"/>
          <p:nvPr/>
        </p:nvSpPr>
        <p:spPr>
          <a:xfrm>
            <a:off x="10154421" y="2778498"/>
            <a:ext cx="1295899" cy="276999"/>
          </a:xfrm>
          <a:prstGeom prst="rect">
            <a:avLst/>
          </a:prstGeom>
          <a:noFill/>
        </p:spPr>
        <p:txBody>
          <a:bodyPr wrap="square">
            <a:spAutoFit/>
          </a:bodyPr>
          <a:lstStyle/>
          <a:p>
            <a:r>
              <a:rPr lang="ru-RU" sz="1200" dirty="0"/>
              <a:t>более эластично</a:t>
            </a:r>
          </a:p>
        </p:txBody>
      </p:sp>
    </p:spTree>
    <p:extLst>
      <p:ext uri="{BB962C8B-B14F-4D97-AF65-F5344CB8AC3E}">
        <p14:creationId xmlns:p14="http://schemas.microsoft.com/office/powerpoint/2010/main" val="3756216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Прямая соединительная линия 4">
            <a:extLst>
              <a:ext uri="{FF2B5EF4-FFF2-40B4-BE49-F238E27FC236}">
                <a16:creationId xmlns:a16="http://schemas.microsoft.com/office/drawing/2014/main" id="{400A4BEF-77FD-1103-F015-41111F4E2DC6}"/>
              </a:ext>
            </a:extLst>
          </p:cNvPr>
          <p:cNvCxnSpPr/>
          <p:nvPr/>
        </p:nvCxnSpPr>
        <p:spPr>
          <a:xfrm flipV="1">
            <a:off x="7162800" y="2428240"/>
            <a:ext cx="2580640" cy="2550160"/>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19" name="Прямая соединительная линия 18">
            <a:extLst>
              <a:ext uri="{FF2B5EF4-FFF2-40B4-BE49-F238E27FC236}">
                <a16:creationId xmlns:a16="http://schemas.microsoft.com/office/drawing/2014/main" id="{BC1E454F-A2CE-3336-488A-0B8189E31084}"/>
              </a:ext>
            </a:extLst>
          </p:cNvPr>
          <p:cNvCxnSpPr>
            <a:cxnSpLocks/>
          </p:cNvCxnSpPr>
          <p:nvPr/>
        </p:nvCxnSpPr>
        <p:spPr>
          <a:xfrm>
            <a:off x="7142480" y="2448560"/>
            <a:ext cx="2580640" cy="2550160"/>
          </a:xfrm>
          <a:prstGeom prst="line">
            <a:avLst/>
          </a:prstGeom>
          <a:ln/>
        </p:spPr>
        <p:style>
          <a:lnRef idx="3">
            <a:schemeClr val="accent6"/>
          </a:lnRef>
          <a:fillRef idx="0">
            <a:schemeClr val="accent6"/>
          </a:fillRef>
          <a:effectRef idx="2">
            <a:schemeClr val="accent6"/>
          </a:effectRef>
          <a:fontRef idx="minor">
            <a:schemeClr val="tx1"/>
          </a:fontRef>
        </p:style>
      </p:cxnSp>
      <p:sp>
        <p:nvSpPr>
          <p:cNvPr id="2" name="Заголовок 1">
            <a:extLst>
              <a:ext uri="{FF2B5EF4-FFF2-40B4-BE49-F238E27FC236}">
                <a16:creationId xmlns:a16="http://schemas.microsoft.com/office/drawing/2014/main" id="{A8764B92-FD22-3615-C3BA-6DFF9724E9D8}"/>
              </a:ext>
            </a:extLst>
          </p:cNvPr>
          <p:cNvSpPr>
            <a:spLocks noGrp="1"/>
          </p:cNvSpPr>
          <p:nvPr>
            <p:ph type="title"/>
          </p:nvPr>
        </p:nvSpPr>
        <p:spPr/>
        <p:txBody>
          <a:bodyPr/>
          <a:lstStyle/>
          <a:p>
            <a:r>
              <a:rPr lang="ru-RU"/>
              <a:t>Излишки потребителя и производителя</a:t>
            </a:r>
            <a:endParaRPr lang="ru-RU" dirty="0"/>
          </a:p>
        </p:txBody>
      </p:sp>
      <p:sp>
        <p:nvSpPr>
          <p:cNvPr id="3" name="Объект 2">
            <a:extLst>
              <a:ext uri="{FF2B5EF4-FFF2-40B4-BE49-F238E27FC236}">
                <a16:creationId xmlns:a16="http://schemas.microsoft.com/office/drawing/2014/main" id="{44208447-6FCA-328D-B6B8-3B441B583717}"/>
              </a:ext>
            </a:extLst>
          </p:cNvPr>
          <p:cNvSpPr>
            <a:spLocks noGrp="1"/>
          </p:cNvSpPr>
          <p:nvPr>
            <p:ph idx="1"/>
          </p:nvPr>
        </p:nvSpPr>
        <p:spPr>
          <a:xfrm>
            <a:off x="101601" y="1469628"/>
            <a:ext cx="6583473" cy="5114050"/>
          </a:xfrm>
        </p:spPr>
        <p:txBody>
          <a:bodyPr>
            <a:normAutofit fontScale="92500" lnSpcReduction="20000"/>
          </a:bodyPr>
          <a:lstStyle/>
          <a:p>
            <a:pPr marL="0" indent="0">
              <a:buNone/>
            </a:pPr>
            <a:r>
              <a:rPr lang="ru-RU" sz="2000" dirty="0"/>
              <a:t>У каждого потребителя и производителя есть так называемый «излишек». Что это такое</a:t>
            </a:r>
            <a:r>
              <a:rPr lang="en-US" sz="2000" dirty="0"/>
              <a:t>?</a:t>
            </a:r>
            <a:endParaRPr lang="ru-RU" sz="2000" dirty="0"/>
          </a:p>
          <a:p>
            <a:pPr lvl="1">
              <a:buFont typeface="Calibri" panose="020F0502020204030204" pitchFamily="34" charset="0"/>
              <a:buChar char="−"/>
            </a:pPr>
            <a:r>
              <a:rPr lang="ru-RU" sz="1600" b="1" dirty="0"/>
              <a:t>Излишек потребителя (</a:t>
            </a:r>
            <a:r>
              <a:rPr lang="en-US" sz="1600" b="1" dirty="0"/>
              <a:t>CS) </a:t>
            </a:r>
            <a:r>
              <a:rPr lang="en-US" sz="1600" dirty="0"/>
              <a:t>–</a:t>
            </a:r>
            <a:r>
              <a:rPr lang="ru-RU" sz="1600" dirty="0"/>
              <a:t> разница между равновесной рыночной ценой и ценой, за которую покупатель был бы готов купить этот товар в принципе (например, рыночная цена хлеба – 10 рублей, но вы настолько его любите, что купили бы и за 30 рублей. Ваш излишек – 20 рублей).</a:t>
            </a:r>
            <a:r>
              <a:rPr lang="en-US" sz="1600" dirty="0"/>
              <a:t> </a:t>
            </a:r>
            <a:r>
              <a:rPr lang="ru-RU" sz="1600" dirty="0"/>
              <a:t>Это треугольник с зеленой линией.</a:t>
            </a:r>
          </a:p>
          <a:p>
            <a:pPr lvl="1">
              <a:buFont typeface="Calibri" panose="020F0502020204030204" pitchFamily="34" charset="0"/>
              <a:buChar char="−"/>
            </a:pPr>
            <a:r>
              <a:rPr lang="ru-RU" sz="1600" b="1" dirty="0"/>
              <a:t>Излишек производителя (</a:t>
            </a:r>
            <a:r>
              <a:rPr lang="en-US" sz="1600" b="1" dirty="0"/>
              <a:t>PS)</a:t>
            </a:r>
            <a:r>
              <a:rPr lang="ru-RU" sz="1600" b="1" dirty="0"/>
              <a:t> </a:t>
            </a:r>
            <a:r>
              <a:rPr lang="ru-RU" sz="1600" dirty="0"/>
              <a:t>–  разница между равновесной рыночной ценой и той ценой, которую производитель готов ввести за свой товар на рынке (например, производитель считает по издержкам и готов выставить цену в 15 рублей, а рыночная цена – 20 рублей. Его излишек – 5 рублей). Это треугольник с оранжевой линией.</a:t>
            </a:r>
          </a:p>
          <a:p>
            <a:r>
              <a:rPr lang="ru-RU" sz="2000" dirty="0"/>
              <a:t>Если на рынке происходит какое-то искажение цены, то излишки могут сокращаться, и появляются </a:t>
            </a:r>
            <a:r>
              <a:rPr lang="en-US" sz="2000" dirty="0"/>
              <a:t>DWL (deadweight losses </a:t>
            </a:r>
            <a:r>
              <a:rPr lang="ru-RU" sz="2000" dirty="0"/>
              <a:t>или по-русски потери мертвого груза).</a:t>
            </a:r>
            <a:endParaRPr lang="en-US" sz="2000" dirty="0"/>
          </a:p>
          <a:p>
            <a:r>
              <a:rPr lang="en-US" sz="2000" b="1" dirty="0"/>
              <a:t>DWL</a:t>
            </a:r>
            <a:r>
              <a:rPr lang="en-US" sz="2000" dirty="0"/>
              <a:t> – </a:t>
            </a:r>
            <a:r>
              <a:rPr lang="ru-RU" sz="2000" dirty="0"/>
              <a:t>потери экономической эффективности в ситуациях, когда на рынке реализуется неоптимальный объём товара или услуги.</a:t>
            </a:r>
          </a:p>
          <a:p>
            <a:r>
              <a:rPr lang="ru-RU" sz="2000" dirty="0"/>
              <a:t>В знакомом нам случае на совершенно конкурентном рынке </a:t>
            </a:r>
            <a:r>
              <a:rPr lang="en-US" sz="2000" dirty="0"/>
              <a:t>DWL</a:t>
            </a:r>
            <a:r>
              <a:rPr lang="ru-RU" sz="2000" dirty="0"/>
              <a:t> нет и быть не может. Но при монополии оно возникает. Также оно возникает от введение налогов.</a:t>
            </a:r>
          </a:p>
        </p:txBody>
      </p:sp>
      <p:cxnSp>
        <p:nvCxnSpPr>
          <p:cNvPr id="7" name="Прямая со стрелкой 6">
            <a:extLst>
              <a:ext uri="{FF2B5EF4-FFF2-40B4-BE49-F238E27FC236}">
                <a16:creationId xmlns:a16="http://schemas.microsoft.com/office/drawing/2014/main" id="{B7CDE2AB-4F96-B9E9-85F5-15B49C117217}"/>
              </a:ext>
            </a:extLst>
          </p:cNvPr>
          <p:cNvCxnSpPr>
            <a:cxnSpLocks/>
          </p:cNvCxnSpPr>
          <p:nvPr/>
        </p:nvCxnSpPr>
        <p:spPr>
          <a:xfrm flipH="1" flipV="1">
            <a:off x="7132320" y="1991360"/>
            <a:ext cx="20320" cy="34101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Прямая со стрелкой 9">
            <a:extLst>
              <a:ext uri="{FF2B5EF4-FFF2-40B4-BE49-F238E27FC236}">
                <a16:creationId xmlns:a16="http://schemas.microsoft.com/office/drawing/2014/main" id="{6B81B6A7-4E8E-4E07-CE87-010D489267C9}"/>
              </a:ext>
            </a:extLst>
          </p:cNvPr>
          <p:cNvCxnSpPr>
            <a:cxnSpLocks/>
          </p:cNvCxnSpPr>
          <p:nvPr/>
        </p:nvCxnSpPr>
        <p:spPr>
          <a:xfrm>
            <a:off x="7152640" y="5401548"/>
            <a:ext cx="374904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EF33DD4C-BCAD-3F04-5768-6D55BE3D4285}"/>
              </a:ext>
            </a:extLst>
          </p:cNvPr>
          <p:cNvSpPr txBox="1"/>
          <p:nvPr/>
        </p:nvSpPr>
        <p:spPr>
          <a:xfrm>
            <a:off x="6998591" y="1656358"/>
            <a:ext cx="308098" cy="369332"/>
          </a:xfrm>
          <a:prstGeom prst="rect">
            <a:avLst/>
          </a:prstGeom>
          <a:noFill/>
        </p:spPr>
        <p:txBody>
          <a:bodyPr wrap="none" rtlCol="0">
            <a:spAutoFit/>
          </a:bodyPr>
          <a:lstStyle/>
          <a:p>
            <a:r>
              <a:rPr lang="en-US" b="1" dirty="0">
                <a:solidFill>
                  <a:srgbClr val="0070C0"/>
                </a:solidFill>
              </a:rPr>
              <a:t>P</a:t>
            </a:r>
            <a:endParaRPr lang="ru-RU" b="1" dirty="0">
              <a:solidFill>
                <a:srgbClr val="0070C0"/>
              </a:solidFill>
            </a:endParaRPr>
          </a:p>
        </p:txBody>
      </p:sp>
      <p:sp>
        <p:nvSpPr>
          <p:cNvPr id="16" name="TextBox 15">
            <a:extLst>
              <a:ext uri="{FF2B5EF4-FFF2-40B4-BE49-F238E27FC236}">
                <a16:creationId xmlns:a16="http://schemas.microsoft.com/office/drawing/2014/main" id="{A8060818-215A-04F3-393A-F0AC529E1A83}"/>
              </a:ext>
            </a:extLst>
          </p:cNvPr>
          <p:cNvSpPr txBox="1"/>
          <p:nvPr/>
        </p:nvSpPr>
        <p:spPr>
          <a:xfrm>
            <a:off x="10901680" y="5216882"/>
            <a:ext cx="343364" cy="369332"/>
          </a:xfrm>
          <a:prstGeom prst="rect">
            <a:avLst/>
          </a:prstGeom>
          <a:noFill/>
        </p:spPr>
        <p:txBody>
          <a:bodyPr wrap="none" rtlCol="0">
            <a:spAutoFit/>
          </a:bodyPr>
          <a:lstStyle/>
          <a:p>
            <a:r>
              <a:rPr lang="en-US" b="1" dirty="0">
                <a:solidFill>
                  <a:srgbClr val="0070C0"/>
                </a:solidFill>
              </a:rPr>
              <a:t>Q</a:t>
            </a:r>
            <a:endParaRPr lang="ru-RU" b="1" dirty="0">
              <a:solidFill>
                <a:srgbClr val="0070C0"/>
              </a:solidFill>
            </a:endParaRPr>
          </a:p>
        </p:txBody>
      </p:sp>
      <p:sp>
        <p:nvSpPr>
          <p:cNvPr id="25" name="Овал 24">
            <a:extLst>
              <a:ext uri="{FF2B5EF4-FFF2-40B4-BE49-F238E27FC236}">
                <a16:creationId xmlns:a16="http://schemas.microsoft.com/office/drawing/2014/main" id="{459CD14C-FDD1-BAE7-60B9-18BC9072E97F}"/>
              </a:ext>
            </a:extLst>
          </p:cNvPr>
          <p:cNvSpPr/>
          <p:nvPr/>
        </p:nvSpPr>
        <p:spPr>
          <a:xfrm>
            <a:off x="8356888" y="3649320"/>
            <a:ext cx="108000" cy="108000"/>
          </a:xfrm>
          <a:prstGeom prst="ellips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1" name="TextBox 40">
            <a:extLst>
              <a:ext uri="{FF2B5EF4-FFF2-40B4-BE49-F238E27FC236}">
                <a16:creationId xmlns:a16="http://schemas.microsoft.com/office/drawing/2014/main" id="{F002A1AE-8130-D1F1-0D1A-38FD98BE8C78}"/>
              </a:ext>
            </a:extLst>
          </p:cNvPr>
          <p:cNvSpPr txBox="1"/>
          <p:nvPr/>
        </p:nvSpPr>
        <p:spPr>
          <a:xfrm>
            <a:off x="6742047" y="3518654"/>
            <a:ext cx="423514" cy="369332"/>
          </a:xfrm>
          <a:prstGeom prst="rect">
            <a:avLst/>
          </a:prstGeom>
          <a:noFill/>
        </p:spPr>
        <p:txBody>
          <a:bodyPr wrap="none" rtlCol="0">
            <a:spAutoFit/>
          </a:bodyPr>
          <a:lstStyle/>
          <a:p>
            <a:r>
              <a:rPr lang="en-US" b="1" dirty="0">
                <a:solidFill>
                  <a:schemeClr val="tx1">
                    <a:lumMod val="95000"/>
                    <a:lumOff val="5000"/>
                  </a:schemeClr>
                </a:solidFill>
              </a:rPr>
              <a:t>P</a:t>
            </a:r>
            <a:r>
              <a:rPr lang="ru-RU" b="1" dirty="0">
                <a:solidFill>
                  <a:schemeClr val="tx1">
                    <a:lumMod val="95000"/>
                    <a:lumOff val="5000"/>
                  </a:schemeClr>
                </a:solidFill>
              </a:rPr>
              <a:t>*</a:t>
            </a:r>
          </a:p>
        </p:txBody>
      </p:sp>
      <p:sp>
        <p:nvSpPr>
          <p:cNvPr id="42" name="TextBox 41">
            <a:extLst>
              <a:ext uri="{FF2B5EF4-FFF2-40B4-BE49-F238E27FC236}">
                <a16:creationId xmlns:a16="http://schemas.microsoft.com/office/drawing/2014/main" id="{EB865A61-95E3-C576-9351-C2D508CF5CF6}"/>
              </a:ext>
            </a:extLst>
          </p:cNvPr>
          <p:cNvSpPr txBox="1"/>
          <p:nvPr/>
        </p:nvSpPr>
        <p:spPr>
          <a:xfrm>
            <a:off x="8314964" y="5324952"/>
            <a:ext cx="458780" cy="369332"/>
          </a:xfrm>
          <a:prstGeom prst="rect">
            <a:avLst/>
          </a:prstGeom>
          <a:noFill/>
        </p:spPr>
        <p:txBody>
          <a:bodyPr wrap="none" rtlCol="0">
            <a:spAutoFit/>
          </a:bodyPr>
          <a:lstStyle/>
          <a:p>
            <a:r>
              <a:rPr lang="en-US" b="1" dirty="0">
                <a:solidFill>
                  <a:schemeClr val="tx1">
                    <a:lumMod val="95000"/>
                    <a:lumOff val="5000"/>
                  </a:schemeClr>
                </a:solidFill>
              </a:rPr>
              <a:t>Q</a:t>
            </a:r>
            <a:r>
              <a:rPr lang="ru-RU" b="1" dirty="0">
                <a:solidFill>
                  <a:schemeClr val="tx1">
                    <a:lumMod val="95000"/>
                    <a:lumOff val="5000"/>
                  </a:schemeClr>
                </a:solidFill>
              </a:rPr>
              <a:t>*</a:t>
            </a:r>
          </a:p>
        </p:txBody>
      </p:sp>
      <p:sp>
        <p:nvSpPr>
          <p:cNvPr id="43" name="Номер слайда 42">
            <a:extLst>
              <a:ext uri="{FF2B5EF4-FFF2-40B4-BE49-F238E27FC236}">
                <a16:creationId xmlns:a16="http://schemas.microsoft.com/office/drawing/2014/main" id="{25795F29-7E96-93D2-FBBA-0EBE86F4A4B7}"/>
              </a:ext>
            </a:extLst>
          </p:cNvPr>
          <p:cNvSpPr>
            <a:spLocks noGrp="1"/>
          </p:cNvSpPr>
          <p:nvPr>
            <p:ph type="sldNum" sz="quarter" idx="12"/>
          </p:nvPr>
        </p:nvSpPr>
        <p:spPr/>
        <p:txBody>
          <a:bodyPr/>
          <a:lstStyle/>
          <a:p>
            <a:fld id="{23F470E1-E072-4587-920D-844ED8D976FF}" type="slidenum">
              <a:rPr lang="ru-RU" smtClean="0"/>
              <a:t>7</a:t>
            </a:fld>
            <a:endParaRPr lang="ru-RU"/>
          </a:p>
        </p:txBody>
      </p:sp>
      <p:sp>
        <p:nvSpPr>
          <p:cNvPr id="8" name="TextBox 7">
            <a:extLst>
              <a:ext uri="{FF2B5EF4-FFF2-40B4-BE49-F238E27FC236}">
                <a16:creationId xmlns:a16="http://schemas.microsoft.com/office/drawing/2014/main" id="{60E029E7-2647-B11B-D4D1-2C8B041081D5}"/>
              </a:ext>
            </a:extLst>
          </p:cNvPr>
          <p:cNvSpPr txBox="1"/>
          <p:nvPr/>
        </p:nvSpPr>
        <p:spPr>
          <a:xfrm>
            <a:off x="9429450" y="2172117"/>
            <a:ext cx="293670" cy="369332"/>
          </a:xfrm>
          <a:prstGeom prst="rect">
            <a:avLst/>
          </a:prstGeom>
          <a:noFill/>
        </p:spPr>
        <p:txBody>
          <a:bodyPr wrap="none" rtlCol="0">
            <a:spAutoFit/>
          </a:bodyPr>
          <a:lstStyle/>
          <a:p>
            <a:r>
              <a:rPr lang="en-US" b="1" dirty="0">
                <a:solidFill>
                  <a:srgbClr val="C00000"/>
                </a:solidFill>
              </a:rPr>
              <a:t>S</a:t>
            </a:r>
            <a:endParaRPr lang="ru-RU" b="1" dirty="0">
              <a:solidFill>
                <a:srgbClr val="C00000"/>
              </a:solidFill>
            </a:endParaRPr>
          </a:p>
        </p:txBody>
      </p:sp>
      <p:sp>
        <p:nvSpPr>
          <p:cNvPr id="20" name="TextBox 19">
            <a:extLst>
              <a:ext uri="{FF2B5EF4-FFF2-40B4-BE49-F238E27FC236}">
                <a16:creationId xmlns:a16="http://schemas.microsoft.com/office/drawing/2014/main" id="{CCFF6E8C-D4B2-B4CC-8306-DBEA402EDB2E}"/>
              </a:ext>
            </a:extLst>
          </p:cNvPr>
          <p:cNvSpPr txBox="1"/>
          <p:nvPr/>
        </p:nvSpPr>
        <p:spPr>
          <a:xfrm>
            <a:off x="7172218" y="2171561"/>
            <a:ext cx="330540" cy="369332"/>
          </a:xfrm>
          <a:prstGeom prst="rect">
            <a:avLst/>
          </a:prstGeom>
          <a:noFill/>
        </p:spPr>
        <p:txBody>
          <a:bodyPr wrap="none" rtlCol="0">
            <a:spAutoFit/>
          </a:bodyPr>
          <a:lstStyle/>
          <a:p>
            <a:r>
              <a:rPr lang="en-US" b="1" dirty="0">
                <a:solidFill>
                  <a:srgbClr val="C00000"/>
                </a:solidFill>
              </a:rPr>
              <a:t>D</a:t>
            </a:r>
            <a:endParaRPr lang="ru-RU" b="1" dirty="0">
              <a:solidFill>
                <a:srgbClr val="C00000"/>
              </a:solidFill>
            </a:endParaRPr>
          </a:p>
        </p:txBody>
      </p:sp>
      <p:cxnSp>
        <p:nvCxnSpPr>
          <p:cNvPr id="21" name="Прямая соединительная линия 20">
            <a:extLst>
              <a:ext uri="{FF2B5EF4-FFF2-40B4-BE49-F238E27FC236}">
                <a16:creationId xmlns:a16="http://schemas.microsoft.com/office/drawing/2014/main" id="{B2419E5A-D1B1-059C-99B3-F94967245ADE}"/>
              </a:ext>
            </a:extLst>
          </p:cNvPr>
          <p:cNvCxnSpPr>
            <a:cxnSpLocks/>
            <a:endCxn id="25" idx="6"/>
          </p:cNvCxnSpPr>
          <p:nvPr/>
        </p:nvCxnSpPr>
        <p:spPr>
          <a:xfrm>
            <a:off x="7161151" y="3675401"/>
            <a:ext cx="1303737" cy="27919"/>
          </a:xfrm>
          <a:prstGeom prst="line">
            <a:avLst/>
          </a:prstGeom>
          <a:ln>
            <a:prstDash val="dashDot"/>
          </a:ln>
        </p:spPr>
        <p:style>
          <a:lnRef idx="1">
            <a:schemeClr val="dk1"/>
          </a:lnRef>
          <a:fillRef idx="0">
            <a:schemeClr val="dk1"/>
          </a:fillRef>
          <a:effectRef idx="0">
            <a:schemeClr val="dk1"/>
          </a:effectRef>
          <a:fontRef idx="minor">
            <a:schemeClr val="tx1"/>
          </a:fontRef>
        </p:style>
      </p:cxnSp>
      <p:cxnSp>
        <p:nvCxnSpPr>
          <p:cNvPr id="22" name="Прямая соединительная линия 21">
            <a:extLst>
              <a:ext uri="{FF2B5EF4-FFF2-40B4-BE49-F238E27FC236}">
                <a16:creationId xmlns:a16="http://schemas.microsoft.com/office/drawing/2014/main" id="{74AEC2C1-FC3D-6A46-D3D3-01B530040282}"/>
              </a:ext>
            </a:extLst>
          </p:cNvPr>
          <p:cNvCxnSpPr>
            <a:cxnSpLocks/>
          </p:cNvCxnSpPr>
          <p:nvPr/>
        </p:nvCxnSpPr>
        <p:spPr>
          <a:xfrm>
            <a:off x="8421048" y="3808293"/>
            <a:ext cx="43840" cy="1592977"/>
          </a:xfrm>
          <a:prstGeom prst="line">
            <a:avLst/>
          </a:prstGeom>
          <a:ln>
            <a:prstDash val="dashDot"/>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5528F6B3-3711-00B5-534F-D18D70FA9124}"/>
              </a:ext>
            </a:extLst>
          </p:cNvPr>
          <p:cNvSpPr txBox="1"/>
          <p:nvPr/>
        </p:nvSpPr>
        <p:spPr>
          <a:xfrm>
            <a:off x="7318304" y="3081398"/>
            <a:ext cx="415498" cy="369332"/>
          </a:xfrm>
          <a:prstGeom prst="rect">
            <a:avLst/>
          </a:prstGeom>
          <a:noFill/>
        </p:spPr>
        <p:txBody>
          <a:bodyPr wrap="none" rtlCol="0">
            <a:spAutoFit/>
          </a:bodyPr>
          <a:lstStyle/>
          <a:p>
            <a:r>
              <a:rPr lang="en-US" b="1" dirty="0">
                <a:solidFill>
                  <a:schemeClr val="tx1">
                    <a:lumMod val="95000"/>
                    <a:lumOff val="5000"/>
                  </a:schemeClr>
                </a:solidFill>
              </a:rPr>
              <a:t>CS</a:t>
            </a:r>
            <a:endParaRPr lang="ru-RU" b="1" dirty="0">
              <a:solidFill>
                <a:schemeClr val="tx1">
                  <a:lumMod val="95000"/>
                  <a:lumOff val="5000"/>
                </a:schemeClr>
              </a:solidFill>
            </a:endParaRPr>
          </a:p>
        </p:txBody>
      </p:sp>
      <p:sp>
        <p:nvSpPr>
          <p:cNvPr id="51" name="TextBox 50">
            <a:extLst>
              <a:ext uri="{FF2B5EF4-FFF2-40B4-BE49-F238E27FC236}">
                <a16:creationId xmlns:a16="http://schemas.microsoft.com/office/drawing/2014/main" id="{EF53ED36-6DDA-7796-5028-7216B1416AC9}"/>
              </a:ext>
            </a:extLst>
          </p:cNvPr>
          <p:cNvSpPr txBox="1"/>
          <p:nvPr/>
        </p:nvSpPr>
        <p:spPr>
          <a:xfrm>
            <a:off x="7364654" y="3898902"/>
            <a:ext cx="417102" cy="369332"/>
          </a:xfrm>
          <a:prstGeom prst="rect">
            <a:avLst/>
          </a:prstGeom>
          <a:noFill/>
        </p:spPr>
        <p:txBody>
          <a:bodyPr wrap="none" rtlCol="0">
            <a:spAutoFit/>
          </a:bodyPr>
          <a:lstStyle/>
          <a:p>
            <a:r>
              <a:rPr lang="en-US" b="1" dirty="0">
                <a:solidFill>
                  <a:schemeClr val="tx1">
                    <a:lumMod val="95000"/>
                    <a:lumOff val="5000"/>
                  </a:schemeClr>
                </a:solidFill>
              </a:rPr>
              <a:t>PS</a:t>
            </a:r>
            <a:endParaRPr lang="ru-RU" b="1" dirty="0">
              <a:solidFill>
                <a:schemeClr val="tx1">
                  <a:lumMod val="95000"/>
                  <a:lumOff val="5000"/>
                </a:schemeClr>
              </a:solidFill>
            </a:endParaRPr>
          </a:p>
        </p:txBody>
      </p:sp>
    </p:spTree>
    <p:extLst>
      <p:ext uri="{BB962C8B-B14F-4D97-AF65-F5344CB8AC3E}">
        <p14:creationId xmlns:p14="http://schemas.microsoft.com/office/powerpoint/2010/main" val="2091810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Объект 2">
            <a:extLst>
              <a:ext uri="{FF2B5EF4-FFF2-40B4-BE49-F238E27FC236}">
                <a16:creationId xmlns:a16="http://schemas.microsoft.com/office/drawing/2014/main" id="{8F232153-4E1F-0084-F4ED-BE54EEADE47C}"/>
              </a:ext>
            </a:extLst>
          </p:cNvPr>
          <p:cNvSpPr>
            <a:spLocks noGrp="1"/>
          </p:cNvSpPr>
          <p:nvPr>
            <p:ph idx="1"/>
          </p:nvPr>
        </p:nvSpPr>
        <p:spPr>
          <a:xfrm>
            <a:off x="838200" y="1469628"/>
            <a:ext cx="10515600" cy="5023247"/>
          </a:xfrm>
        </p:spPr>
        <p:txBody>
          <a:bodyPr>
            <a:normAutofit/>
          </a:bodyPr>
          <a:lstStyle/>
          <a:p>
            <a:r>
              <a:rPr lang="ru-RU" sz="2200" dirty="0"/>
              <a:t>Когда государство начинает вмешиваться, то зачастую это происходит путем введения каки-либо налогов. Это нужно для пополнения бюджета и перераспределения ресурсов в экономике (привет, справедливость).</a:t>
            </a:r>
          </a:p>
          <a:p>
            <a:pPr>
              <a:lnSpc>
                <a:spcPct val="89000"/>
              </a:lnSpc>
              <a:spcBef>
                <a:spcPct val="0"/>
              </a:spcBef>
            </a:pPr>
            <a:r>
              <a:rPr lang="ru-RU" altLang="ru-RU" sz="2200" b="1" dirty="0">
                <a:cs typeface="Times New Roman" pitchFamily="18" charset="0"/>
              </a:rPr>
              <a:t>По объекту налогообложения:</a:t>
            </a:r>
          </a:p>
          <a:p>
            <a:pPr lvl="1">
              <a:lnSpc>
                <a:spcPct val="89000"/>
              </a:lnSpc>
              <a:spcBef>
                <a:spcPct val="0"/>
              </a:spcBef>
              <a:buFont typeface="Calibri" panose="020F0502020204030204" pitchFamily="34" charset="0"/>
              <a:buChar char="−"/>
            </a:pPr>
            <a:r>
              <a:rPr lang="ru-RU" altLang="ru-RU" sz="1800" dirty="0">
                <a:cs typeface="Times New Roman" pitchFamily="18" charset="0"/>
              </a:rPr>
              <a:t>прямые и косвенные (например, налог на прибыль и НДС)</a:t>
            </a:r>
          </a:p>
          <a:p>
            <a:pPr>
              <a:lnSpc>
                <a:spcPct val="89000"/>
              </a:lnSpc>
              <a:spcBef>
                <a:spcPct val="0"/>
              </a:spcBef>
            </a:pPr>
            <a:r>
              <a:rPr lang="ru-RU" altLang="ru-RU" sz="2200" b="1" dirty="0">
                <a:cs typeface="Times New Roman" pitchFamily="18" charset="0"/>
              </a:rPr>
              <a:t>По направленности использования:</a:t>
            </a:r>
          </a:p>
          <a:p>
            <a:pPr lvl="1">
              <a:lnSpc>
                <a:spcPct val="89000"/>
              </a:lnSpc>
              <a:spcBef>
                <a:spcPct val="0"/>
              </a:spcBef>
              <a:buFont typeface="Calibri" panose="020F0502020204030204" pitchFamily="34" charset="0"/>
              <a:buChar char="−"/>
            </a:pPr>
            <a:r>
              <a:rPr lang="ru-RU" altLang="ru-RU" sz="1800" dirty="0">
                <a:cs typeface="Times New Roman" pitchFamily="18" charset="0"/>
              </a:rPr>
              <a:t>маркированные и немаркированные (например, курортный сбор и НДФЛ со ставкой 13%)</a:t>
            </a:r>
          </a:p>
          <a:p>
            <a:pPr>
              <a:lnSpc>
                <a:spcPct val="89000"/>
              </a:lnSpc>
              <a:spcBef>
                <a:spcPct val="0"/>
              </a:spcBef>
            </a:pPr>
            <a:r>
              <a:rPr lang="ru-RU" altLang="ru-RU" sz="2200" b="1" dirty="0">
                <a:cs typeface="Times New Roman" pitchFamily="18" charset="0"/>
              </a:rPr>
              <a:t>По отношению к стоимости объекта:</a:t>
            </a:r>
          </a:p>
          <a:p>
            <a:pPr lvl="1">
              <a:lnSpc>
                <a:spcPct val="89000"/>
              </a:lnSpc>
              <a:spcBef>
                <a:spcPct val="0"/>
              </a:spcBef>
              <a:buFont typeface="Calibri" panose="020F0502020204030204" pitchFamily="34" charset="0"/>
              <a:buChar char="−"/>
            </a:pPr>
            <a:r>
              <a:rPr lang="ru-RU" altLang="ru-RU" sz="1800" dirty="0">
                <a:cs typeface="Times New Roman" pitchFamily="18" charset="0"/>
              </a:rPr>
              <a:t>стоимостные (</a:t>
            </a:r>
            <a:r>
              <a:rPr lang="ru-RU" altLang="ru-RU" sz="1800" dirty="0"/>
              <a:t>T = </a:t>
            </a:r>
            <a:r>
              <a:rPr lang="en-US" altLang="ru-RU" sz="1800" dirty="0"/>
              <a:t>t*p*</a:t>
            </a:r>
            <a:r>
              <a:rPr lang="ru-RU" altLang="ru-RU" sz="1800" dirty="0"/>
              <a:t>Q</a:t>
            </a:r>
            <a:r>
              <a:rPr lang="en-US" altLang="ru-RU" sz="1800" dirty="0"/>
              <a:t> </a:t>
            </a:r>
            <a:r>
              <a:rPr lang="ru-RU" altLang="ru-RU" sz="1800" dirty="0">
                <a:cs typeface="Times New Roman" pitchFamily="18" charset="0"/>
              </a:rPr>
              <a:t>), специфические (</a:t>
            </a:r>
            <a:r>
              <a:rPr lang="ru-RU" altLang="ru-RU" sz="1800" dirty="0"/>
              <a:t>T = t</a:t>
            </a:r>
            <a:r>
              <a:rPr lang="en-US" altLang="ru-RU" sz="1800" dirty="0"/>
              <a:t>*</a:t>
            </a:r>
            <a:r>
              <a:rPr lang="ru-RU" altLang="ru-RU" sz="1800" dirty="0"/>
              <a:t>Q</a:t>
            </a:r>
            <a:r>
              <a:rPr lang="en-US" altLang="ru-RU" sz="1800" dirty="0"/>
              <a:t> </a:t>
            </a:r>
            <a:r>
              <a:rPr lang="ru-RU" altLang="ru-RU" sz="1800">
                <a:cs typeface="Times New Roman" pitchFamily="18" charset="0"/>
              </a:rPr>
              <a:t>), аккордные</a:t>
            </a:r>
            <a:r>
              <a:rPr lang="en-US" altLang="ru-RU" sz="1800">
                <a:cs typeface="Times New Roman" pitchFamily="18" charset="0"/>
              </a:rPr>
              <a:t> </a:t>
            </a:r>
            <a:r>
              <a:rPr lang="en-US" altLang="ru-RU" sz="1800" dirty="0">
                <a:cs typeface="Times New Roman" pitchFamily="18" charset="0"/>
              </a:rPr>
              <a:t>(T = const), t – </a:t>
            </a:r>
            <a:r>
              <a:rPr lang="ru-RU" altLang="ru-RU" sz="1800" dirty="0">
                <a:cs typeface="Times New Roman" pitchFamily="18" charset="0"/>
              </a:rPr>
              <a:t>ставка либо в </a:t>
            </a:r>
            <a:r>
              <a:rPr lang="en-US" altLang="ru-RU" sz="1800" dirty="0">
                <a:cs typeface="Times New Roman" pitchFamily="18" charset="0"/>
              </a:rPr>
              <a:t>%</a:t>
            </a:r>
            <a:r>
              <a:rPr lang="ru-RU" altLang="ru-RU" sz="1800" dirty="0">
                <a:cs typeface="Times New Roman" pitchFamily="18" charset="0"/>
              </a:rPr>
              <a:t> (для стоимостных), либо в денежных единицах (для специфических).</a:t>
            </a:r>
          </a:p>
          <a:p>
            <a:pPr marL="0" indent="0">
              <a:lnSpc>
                <a:spcPct val="89000"/>
              </a:lnSpc>
              <a:spcBef>
                <a:spcPct val="0"/>
              </a:spcBef>
              <a:buNone/>
            </a:pPr>
            <a:r>
              <a:rPr lang="ru-RU" altLang="ru-RU" sz="2200" b="1" dirty="0">
                <a:cs typeface="Times New Roman" pitchFamily="18" charset="0"/>
              </a:rPr>
              <a:t>По уровню налоговой компетенции:</a:t>
            </a:r>
          </a:p>
          <a:p>
            <a:pPr lvl="1">
              <a:lnSpc>
                <a:spcPct val="89000"/>
              </a:lnSpc>
              <a:spcBef>
                <a:spcPct val="0"/>
              </a:spcBef>
              <a:buFont typeface="Calibri" panose="020F0502020204030204" pitchFamily="34" charset="0"/>
              <a:buChar char="−"/>
            </a:pPr>
            <a:r>
              <a:rPr lang="ru-RU" altLang="ru-RU" sz="1800" dirty="0">
                <a:cs typeface="Times New Roman" pitchFamily="18" charset="0"/>
              </a:rPr>
              <a:t>федеральные, региональные, местные (пример соответственно: НДФЛ, налог на имущество организаций</a:t>
            </a:r>
            <a:r>
              <a:rPr lang="en-US" altLang="ru-RU" sz="1800" dirty="0">
                <a:cs typeface="Times New Roman" pitchFamily="18" charset="0"/>
              </a:rPr>
              <a:t>,</a:t>
            </a:r>
            <a:r>
              <a:rPr lang="ru-RU" altLang="ru-RU" sz="1800" dirty="0">
                <a:cs typeface="Times New Roman" pitchFamily="18" charset="0"/>
              </a:rPr>
              <a:t> земельный налог).</a:t>
            </a:r>
          </a:p>
          <a:p>
            <a:pPr marL="0" indent="0">
              <a:lnSpc>
                <a:spcPct val="89000"/>
              </a:lnSpc>
              <a:spcBef>
                <a:spcPct val="0"/>
              </a:spcBef>
              <a:buNone/>
            </a:pPr>
            <a:r>
              <a:rPr lang="ru-RU" altLang="ru-RU" sz="2200" b="1" dirty="0">
                <a:cs typeface="Times New Roman" pitchFamily="18" charset="0"/>
              </a:rPr>
              <a:t>По характеру налогообложения:</a:t>
            </a:r>
          </a:p>
          <a:p>
            <a:pPr lvl="1">
              <a:lnSpc>
                <a:spcPct val="89000"/>
              </a:lnSpc>
              <a:spcBef>
                <a:spcPct val="0"/>
              </a:spcBef>
              <a:buFont typeface="Calibri" panose="020F0502020204030204" pitchFamily="34" charset="0"/>
              <a:buChar char="−"/>
            </a:pPr>
            <a:r>
              <a:rPr lang="ru-RU" altLang="ru-RU" sz="1800" dirty="0">
                <a:cs typeface="Times New Roman" pitchFamily="18" charset="0"/>
              </a:rPr>
              <a:t>прогрессивные	</a:t>
            </a:r>
            <a:r>
              <a:rPr lang="en-US" altLang="ru-RU" sz="1800" dirty="0">
                <a:cs typeface="Times New Roman" pitchFamily="18" charset="0"/>
              </a:rPr>
              <a:t>ATR &lt; MTR</a:t>
            </a:r>
            <a:endParaRPr lang="ru-RU" altLang="ru-RU" sz="1800" dirty="0">
              <a:cs typeface="Times New Roman" pitchFamily="18" charset="0"/>
            </a:endParaRPr>
          </a:p>
          <a:p>
            <a:pPr lvl="1">
              <a:lnSpc>
                <a:spcPct val="89000"/>
              </a:lnSpc>
              <a:spcBef>
                <a:spcPct val="0"/>
              </a:spcBef>
              <a:buFont typeface="Calibri" panose="020F0502020204030204" pitchFamily="34" charset="0"/>
              <a:buChar char="−"/>
            </a:pPr>
            <a:r>
              <a:rPr lang="ru-RU" altLang="ru-RU" sz="1800" dirty="0">
                <a:cs typeface="Times New Roman" pitchFamily="18" charset="0"/>
              </a:rPr>
              <a:t>пропорциональные	ATR = MTR</a:t>
            </a:r>
          </a:p>
          <a:p>
            <a:pPr lvl="1">
              <a:lnSpc>
                <a:spcPct val="89000"/>
              </a:lnSpc>
              <a:spcBef>
                <a:spcPct val="0"/>
              </a:spcBef>
              <a:buFont typeface="Calibri" panose="020F0502020204030204" pitchFamily="34" charset="0"/>
              <a:buChar char="−"/>
            </a:pPr>
            <a:r>
              <a:rPr lang="ru-RU" altLang="ru-RU" sz="1800" dirty="0">
                <a:cs typeface="Times New Roman" pitchFamily="18" charset="0"/>
              </a:rPr>
              <a:t>регрессивные	ATR &gt; MTR</a:t>
            </a:r>
          </a:p>
          <a:p>
            <a:endParaRPr lang="ru-RU" sz="2400" dirty="0"/>
          </a:p>
        </p:txBody>
      </p:sp>
      <p:sp>
        <p:nvSpPr>
          <p:cNvPr id="2" name="Заголовок 1">
            <a:extLst>
              <a:ext uri="{FF2B5EF4-FFF2-40B4-BE49-F238E27FC236}">
                <a16:creationId xmlns:a16="http://schemas.microsoft.com/office/drawing/2014/main" id="{A8764B92-FD22-3615-C3BA-6DFF9724E9D8}"/>
              </a:ext>
            </a:extLst>
          </p:cNvPr>
          <p:cNvSpPr>
            <a:spLocks noGrp="1"/>
          </p:cNvSpPr>
          <p:nvPr>
            <p:ph type="title"/>
          </p:nvPr>
        </p:nvSpPr>
        <p:spPr/>
        <p:txBody>
          <a:bodyPr/>
          <a:lstStyle/>
          <a:p>
            <a:r>
              <a:rPr lang="ru-RU" dirty="0"/>
              <a:t>Налоги: зачем они и какие они бывают</a:t>
            </a:r>
            <a:r>
              <a:rPr lang="en-US" dirty="0"/>
              <a:t>?</a:t>
            </a:r>
            <a:endParaRPr lang="ru-RU" dirty="0"/>
          </a:p>
        </p:txBody>
      </p:sp>
      <p:sp>
        <p:nvSpPr>
          <p:cNvPr id="4" name="Номер слайда 3">
            <a:extLst>
              <a:ext uri="{FF2B5EF4-FFF2-40B4-BE49-F238E27FC236}">
                <a16:creationId xmlns:a16="http://schemas.microsoft.com/office/drawing/2014/main" id="{66990270-5E7D-321C-BBE3-C408C20B49A3}"/>
              </a:ext>
            </a:extLst>
          </p:cNvPr>
          <p:cNvSpPr>
            <a:spLocks noGrp="1"/>
          </p:cNvSpPr>
          <p:nvPr>
            <p:ph type="sldNum" sz="quarter" idx="12"/>
          </p:nvPr>
        </p:nvSpPr>
        <p:spPr/>
        <p:txBody>
          <a:bodyPr/>
          <a:lstStyle/>
          <a:p>
            <a:fld id="{23F470E1-E072-4587-920D-844ED8D976FF}" type="slidenum">
              <a:rPr lang="ru-RU" smtClean="0"/>
              <a:t>8</a:t>
            </a:fld>
            <a:endParaRPr lang="ru-RU"/>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3A73A73-9C3F-9D68-93D4-AE3F80382918}"/>
                  </a:ext>
                </a:extLst>
              </p:cNvPr>
              <p:cNvSpPr txBox="1"/>
              <p:nvPr/>
            </p:nvSpPr>
            <p:spPr>
              <a:xfrm>
                <a:off x="5308074" y="4964162"/>
                <a:ext cx="5690651"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 typeface="Arial" panose="020B0604020202020204" pitchFamily="34" charset="0"/>
                  <a:buChar char="•"/>
                </a:pPr>
                <a:r>
                  <a:rPr lang="en-US" b="1" dirty="0"/>
                  <a:t>ATR = </a:t>
                </a:r>
                <a14:m>
                  <m:oMath xmlns:m="http://schemas.openxmlformats.org/officeDocument/2006/math">
                    <m:f>
                      <m:fPr>
                        <m:type m:val="skw"/>
                        <m:ctrlPr>
                          <a:rPr lang="en-US" b="1" i="1" smtClean="0">
                            <a:latin typeface="Cambria Math" panose="02040503050406030204" pitchFamily="18" charset="0"/>
                          </a:rPr>
                        </m:ctrlPr>
                      </m:fPr>
                      <m:num>
                        <m:r>
                          <a:rPr lang="en-US" b="1" i="1" smtClean="0">
                            <a:latin typeface="Cambria Math" panose="02040503050406030204" pitchFamily="18" charset="0"/>
                            <a:ea typeface="Cambria Math" panose="02040503050406030204" pitchFamily="18" charset="0"/>
                          </a:rPr>
                          <m:t>𝑻</m:t>
                        </m:r>
                      </m:num>
                      <m:den>
                        <m:r>
                          <a:rPr lang="en-US" b="1" i="1" smtClean="0">
                            <a:latin typeface="Cambria Math" panose="02040503050406030204" pitchFamily="18" charset="0"/>
                            <a:ea typeface="Cambria Math" panose="02040503050406030204" pitchFamily="18" charset="0"/>
                          </a:rPr>
                          <m:t>𝒀</m:t>
                        </m:r>
                      </m:den>
                    </m:f>
                  </m:oMath>
                </a14:m>
                <a:r>
                  <a:rPr lang="ru-RU" b="1" dirty="0"/>
                  <a:t> - </a:t>
                </a:r>
                <a:r>
                  <a:rPr lang="ru-RU" sz="1200" dirty="0"/>
                  <a:t>отношение налоговой суммы к величине дохода, выраженное в процентах (можно посчитать налоговую нагрузку</a:t>
                </a:r>
                <a:r>
                  <a:rPr lang="en-US" sz="1200" dirty="0"/>
                  <a:t>/</a:t>
                </a:r>
                <a:r>
                  <a:rPr lang="ru-RU" sz="1200" dirty="0"/>
                  <a:t>бремя).</a:t>
                </a:r>
                <a:endParaRPr lang="en-US" sz="1200" dirty="0"/>
              </a:p>
              <a:p>
                <a:pPr marL="285750" indent="-285750">
                  <a:buFont typeface="Arial" panose="020B0604020202020204" pitchFamily="34" charset="0"/>
                  <a:buChar char="•"/>
                </a:pPr>
                <a:r>
                  <a:rPr lang="en-US" b="1" dirty="0"/>
                  <a:t>MTR = </a:t>
                </a:r>
                <a14:m>
                  <m:oMath xmlns:m="http://schemas.openxmlformats.org/officeDocument/2006/math">
                    <m:f>
                      <m:fPr>
                        <m:type m:val="skw"/>
                        <m:ctrlPr>
                          <a:rPr lang="en-US" sz="1600" b="1" i="1" smtClean="0">
                            <a:latin typeface="Cambria Math" panose="02040503050406030204" pitchFamily="18" charset="0"/>
                          </a:rPr>
                        </m:ctrlPr>
                      </m:fPr>
                      <m:num>
                        <m:r>
                          <a:rPr lang="en-US" sz="1600" b="1" i="1" smtClean="0">
                            <a:latin typeface="Cambria Math" panose="02040503050406030204" pitchFamily="18" charset="0"/>
                            <a:ea typeface="Cambria Math" panose="02040503050406030204" pitchFamily="18" charset="0"/>
                          </a:rPr>
                          <m:t>∆</m:t>
                        </m:r>
                        <m:r>
                          <a:rPr lang="en-US" sz="1600" b="1" i="1" smtClean="0">
                            <a:latin typeface="Cambria Math" panose="02040503050406030204" pitchFamily="18" charset="0"/>
                            <a:ea typeface="Cambria Math" panose="02040503050406030204" pitchFamily="18" charset="0"/>
                          </a:rPr>
                          <m:t>𝑻</m:t>
                        </m:r>
                      </m:num>
                      <m:den>
                        <m:r>
                          <a:rPr lang="en-US" sz="1600" b="1" i="1" smtClean="0">
                            <a:latin typeface="Cambria Math" panose="02040503050406030204" pitchFamily="18" charset="0"/>
                            <a:ea typeface="Cambria Math" panose="02040503050406030204" pitchFamily="18" charset="0"/>
                          </a:rPr>
                          <m:t>∆</m:t>
                        </m:r>
                        <m:r>
                          <a:rPr lang="en-US" sz="1600" b="1" i="1" smtClean="0">
                            <a:latin typeface="Cambria Math" panose="02040503050406030204" pitchFamily="18" charset="0"/>
                            <a:ea typeface="Cambria Math" panose="02040503050406030204" pitchFamily="18" charset="0"/>
                          </a:rPr>
                          <m:t>𝒀</m:t>
                        </m:r>
                      </m:den>
                    </m:f>
                  </m:oMath>
                </a14:m>
                <a:r>
                  <a:rPr lang="ru-RU" sz="1600" b="1" dirty="0"/>
                  <a:t> -</a:t>
                </a:r>
                <a:r>
                  <a:rPr lang="ru-RU" sz="1200" dirty="0"/>
                  <a:t>процентное отношение величины прироста налоговой суммы к величине прироста дохода. Она показывает, на сколько увеличивается сумма налога при увеличении дохода на единицу. </a:t>
                </a:r>
              </a:p>
            </p:txBody>
          </p:sp>
        </mc:Choice>
        <mc:Fallback xmlns="">
          <p:sp>
            <p:nvSpPr>
              <p:cNvPr id="11" name="TextBox 10">
                <a:extLst>
                  <a:ext uri="{FF2B5EF4-FFF2-40B4-BE49-F238E27FC236}">
                    <a16:creationId xmlns:a16="http://schemas.microsoft.com/office/drawing/2014/main" id="{F3A73A73-9C3F-9D68-93D4-AE3F80382918}"/>
                  </a:ext>
                </a:extLst>
              </p:cNvPr>
              <p:cNvSpPr txBox="1">
                <a:spLocks noRot="1" noChangeAspect="1" noMove="1" noResize="1" noEditPoints="1" noAdjustHandles="1" noChangeArrowheads="1" noChangeShapeType="1" noTextEdit="1"/>
              </p:cNvSpPr>
              <p:nvPr/>
            </p:nvSpPr>
            <p:spPr>
              <a:xfrm>
                <a:off x="5308074" y="4964162"/>
                <a:ext cx="5690651" cy="1200329"/>
              </a:xfrm>
              <a:prstGeom prst="rect">
                <a:avLst/>
              </a:prstGeom>
              <a:blipFill>
                <a:blip r:embed="rId2"/>
                <a:stretch>
                  <a:fillRect l="-642" t="-35176" r="-107" b="-14070"/>
                </a:stretch>
              </a:blipFill>
            </p:spPr>
            <p:txBody>
              <a:bodyPr/>
              <a:lstStyle/>
              <a:p>
                <a:r>
                  <a:rPr lang="ru-RU">
                    <a:noFill/>
                  </a:rPr>
                  <a:t> </a:t>
                </a:r>
              </a:p>
            </p:txBody>
          </p:sp>
        </mc:Fallback>
      </mc:AlternateContent>
    </p:spTree>
    <p:extLst>
      <p:ext uri="{BB962C8B-B14F-4D97-AF65-F5344CB8AC3E}">
        <p14:creationId xmlns:p14="http://schemas.microsoft.com/office/powerpoint/2010/main" val="322231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Объект 2">
            <a:extLst>
              <a:ext uri="{FF2B5EF4-FFF2-40B4-BE49-F238E27FC236}">
                <a16:creationId xmlns:a16="http://schemas.microsoft.com/office/drawing/2014/main" id="{8F232153-4E1F-0084-F4ED-BE54EEADE47C}"/>
              </a:ext>
            </a:extLst>
          </p:cNvPr>
          <p:cNvSpPr>
            <a:spLocks noGrp="1"/>
          </p:cNvSpPr>
          <p:nvPr>
            <p:ph idx="1"/>
          </p:nvPr>
        </p:nvSpPr>
        <p:spPr>
          <a:xfrm>
            <a:off x="838200" y="1469628"/>
            <a:ext cx="10515600" cy="5023247"/>
          </a:xfrm>
        </p:spPr>
        <p:txBody>
          <a:bodyPr>
            <a:normAutofit/>
          </a:bodyPr>
          <a:lstStyle/>
          <a:p>
            <a:r>
              <a:rPr lang="ru-RU" sz="1800" b="1" dirty="0"/>
              <a:t>Равенство обязательств </a:t>
            </a:r>
            <a:r>
              <a:rPr lang="ru-RU" sz="1800" dirty="0"/>
              <a:t>(аналог справедливости):</a:t>
            </a:r>
          </a:p>
          <a:p>
            <a:pPr lvl="2">
              <a:buFont typeface="Calibri" panose="020F0502020204030204" pitchFamily="34" charset="0"/>
              <a:buChar char="−"/>
            </a:pPr>
            <a:r>
              <a:rPr lang="ru-RU" sz="1400" b="1" dirty="0"/>
              <a:t>Горизонтальное</a:t>
            </a:r>
            <a:r>
              <a:rPr lang="ru-RU" sz="1400" dirty="0"/>
              <a:t> – с налогоплательщиков, находящихся в одинаковом положении, взимается одинаковый налог.</a:t>
            </a:r>
          </a:p>
          <a:p>
            <a:pPr lvl="2">
              <a:buFont typeface="Calibri" panose="020F0502020204030204" pitchFamily="34" charset="0"/>
              <a:buChar char="−"/>
            </a:pPr>
            <a:r>
              <a:rPr lang="ru-RU" sz="1400" b="1" dirty="0"/>
              <a:t>Вертикальное</a:t>
            </a:r>
            <a:r>
              <a:rPr lang="ru-RU" sz="1400" dirty="0"/>
              <a:t> – налоги, уплачиваемые лицами, находящимися в разном положении, дифференцируются в соответствии с этим положением.</a:t>
            </a:r>
          </a:p>
          <a:p>
            <a:pPr lvl="1"/>
            <a:r>
              <a:rPr lang="ru-RU" sz="1600" b="1" dirty="0"/>
              <a:t>Принцип платежеспособности –</a:t>
            </a:r>
            <a:r>
              <a:rPr lang="ru-RU" sz="1600" dirty="0"/>
              <a:t> </a:t>
            </a:r>
            <a:r>
              <a:rPr lang="ru-RU" altLang="ru-RU" sz="1600" dirty="0"/>
              <a:t>налоговое  бремя должно распределяться в соответствии с экономическими возможностями плательщиков (соотносится скорее с понятием горизонтального равенства).</a:t>
            </a:r>
          </a:p>
          <a:p>
            <a:pPr lvl="1"/>
            <a:r>
              <a:rPr lang="ru-RU" sz="1600" b="1" dirty="0"/>
              <a:t>Принцип получаемых выгод </a:t>
            </a:r>
            <a:r>
              <a:rPr lang="ru-RU" sz="1600" dirty="0"/>
              <a:t>– </a:t>
            </a:r>
            <a:r>
              <a:rPr lang="ru-RU" altLang="ru-RU" sz="1600" dirty="0"/>
              <a:t>платежи дифференцируются в соответствии с теми преимуществами, которые получает конкретный плательщик от деятельности государства (соотносится скорее с вертикальным равенством).</a:t>
            </a:r>
          </a:p>
          <a:p>
            <a:r>
              <a:rPr lang="ru-RU" sz="1800" b="1" dirty="0"/>
              <a:t>Нейтральность</a:t>
            </a:r>
            <a:r>
              <a:rPr lang="ru-RU" sz="1800" dirty="0"/>
              <a:t> – </a:t>
            </a:r>
            <a:r>
              <a:rPr lang="ru-RU" sz="1800" dirty="0" err="1"/>
              <a:t>неискажение</a:t>
            </a:r>
            <a:r>
              <a:rPr lang="ru-RU" sz="1800" dirty="0"/>
              <a:t> мотивации и профилей потребления индивидов вследствие введения налога (искажающее действие ведет к появлению налогового бремени из-за разницы в возможностях и готовности платить).</a:t>
            </a:r>
          </a:p>
          <a:p>
            <a:r>
              <a:rPr lang="ru-RU" altLang="ru-RU" sz="1800" b="1" dirty="0"/>
              <a:t>Гибкость</a:t>
            </a:r>
            <a:r>
              <a:rPr lang="ru-RU" altLang="ru-RU" sz="1800" dirty="0"/>
              <a:t> – способность налога реагировать на макроэкономические изменения (подстройка под макроэкономические циклы).</a:t>
            </a:r>
          </a:p>
          <a:p>
            <a:r>
              <a:rPr lang="ru-RU" altLang="ru-RU" sz="1800" b="1" dirty="0"/>
              <a:t>Организационная простота</a:t>
            </a:r>
            <a:r>
              <a:rPr lang="ru-RU" altLang="ru-RU" sz="1800" dirty="0"/>
              <a:t> связана с издержками сбора налога (расходы на содержание налоговой службы, временные и др. издержки, связанные с уплатой налога, услуги консультантов)</a:t>
            </a:r>
          </a:p>
          <a:p>
            <a:r>
              <a:rPr lang="ru-RU" altLang="ru-RU" sz="1800" b="1" dirty="0"/>
              <a:t>Прозрачность </a:t>
            </a:r>
            <a:r>
              <a:rPr lang="ru-RU" altLang="ru-RU" sz="1800" dirty="0"/>
              <a:t>– налогоплательщик понимает, каким образом устроены его налоговые обязательства. Это обеспечивает политическую контролируемость налогов со стороны налогоплательщиков.</a:t>
            </a:r>
          </a:p>
          <a:p>
            <a:endParaRPr lang="ru-RU" altLang="ru-RU" sz="1800" dirty="0"/>
          </a:p>
          <a:p>
            <a:endParaRPr lang="ru-RU" altLang="ru-RU" sz="1800" dirty="0"/>
          </a:p>
          <a:p>
            <a:endParaRPr lang="ru-RU" sz="2000" dirty="0"/>
          </a:p>
          <a:p>
            <a:endParaRPr lang="ru-RU" sz="2000" dirty="0"/>
          </a:p>
          <a:p>
            <a:endParaRPr lang="ru-RU" sz="2000" dirty="0"/>
          </a:p>
          <a:p>
            <a:pPr lvl="1">
              <a:buFont typeface="Calibri" panose="020F0502020204030204" pitchFamily="34" charset="0"/>
              <a:buChar char="−"/>
            </a:pPr>
            <a:endParaRPr lang="ru-RU" sz="2000" dirty="0"/>
          </a:p>
        </p:txBody>
      </p:sp>
      <p:sp>
        <p:nvSpPr>
          <p:cNvPr id="2" name="Заголовок 1">
            <a:extLst>
              <a:ext uri="{FF2B5EF4-FFF2-40B4-BE49-F238E27FC236}">
                <a16:creationId xmlns:a16="http://schemas.microsoft.com/office/drawing/2014/main" id="{A8764B92-FD22-3615-C3BA-6DFF9724E9D8}"/>
              </a:ext>
            </a:extLst>
          </p:cNvPr>
          <p:cNvSpPr>
            <a:spLocks noGrp="1"/>
          </p:cNvSpPr>
          <p:nvPr>
            <p:ph type="title"/>
          </p:nvPr>
        </p:nvSpPr>
        <p:spPr/>
        <p:txBody>
          <a:bodyPr/>
          <a:lstStyle/>
          <a:p>
            <a:r>
              <a:rPr lang="ru-RU" dirty="0"/>
              <a:t>Критерии оценки налоговых систем</a:t>
            </a:r>
          </a:p>
        </p:txBody>
      </p:sp>
      <p:sp>
        <p:nvSpPr>
          <p:cNvPr id="4" name="Номер слайда 3">
            <a:extLst>
              <a:ext uri="{FF2B5EF4-FFF2-40B4-BE49-F238E27FC236}">
                <a16:creationId xmlns:a16="http://schemas.microsoft.com/office/drawing/2014/main" id="{66990270-5E7D-321C-BBE3-C408C20B49A3}"/>
              </a:ext>
            </a:extLst>
          </p:cNvPr>
          <p:cNvSpPr>
            <a:spLocks noGrp="1"/>
          </p:cNvSpPr>
          <p:nvPr>
            <p:ph type="sldNum" sz="quarter" idx="12"/>
          </p:nvPr>
        </p:nvSpPr>
        <p:spPr/>
        <p:txBody>
          <a:bodyPr/>
          <a:lstStyle/>
          <a:p>
            <a:fld id="{23F470E1-E072-4587-920D-844ED8D976FF}" type="slidenum">
              <a:rPr lang="ru-RU" smtClean="0"/>
              <a:t>9</a:t>
            </a:fld>
            <a:endParaRPr lang="ru-RU"/>
          </a:p>
        </p:txBody>
      </p:sp>
    </p:spTree>
    <p:extLst>
      <p:ext uri="{BB962C8B-B14F-4D97-AF65-F5344CB8AC3E}">
        <p14:creationId xmlns:p14="http://schemas.microsoft.com/office/powerpoint/2010/main" val="3250246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Объект 2">
                <a:extLst>
                  <a:ext uri="{FF2B5EF4-FFF2-40B4-BE49-F238E27FC236}">
                    <a16:creationId xmlns:a16="http://schemas.microsoft.com/office/drawing/2014/main" id="{8F232153-4E1F-0084-F4ED-BE54EEADE47C}"/>
                  </a:ext>
                </a:extLst>
              </p:cNvPr>
              <p:cNvSpPr>
                <a:spLocks noGrp="1"/>
              </p:cNvSpPr>
              <p:nvPr>
                <p:ph idx="1"/>
              </p:nvPr>
            </p:nvSpPr>
            <p:spPr>
              <a:xfrm>
                <a:off x="203199" y="1469628"/>
                <a:ext cx="7082977" cy="5023247"/>
              </a:xfrm>
            </p:spPr>
            <p:txBody>
              <a:bodyPr>
                <a:normAutofit/>
              </a:bodyPr>
              <a:lstStyle/>
              <a:p>
                <a:r>
                  <a:rPr lang="ru-RU" sz="1600" b="1" dirty="0"/>
                  <a:t>В прошлом разделе мы говорили про </a:t>
                </a:r>
                <a:r>
                  <a:rPr lang="en-US" sz="1600" b="1" dirty="0"/>
                  <a:t>DWL</a:t>
                </a:r>
                <a:r>
                  <a:rPr lang="ru-RU" sz="1600" b="1" dirty="0"/>
                  <a:t>. </a:t>
                </a:r>
                <a:r>
                  <a:rPr lang="ru-RU" sz="1600" dirty="0"/>
                  <a:t>Оно в том числе возникает в случае введения налога в сравнении с состоянием, когда налога нет вообще.</a:t>
                </a:r>
              </a:p>
              <a:p>
                <a:r>
                  <a:rPr lang="ru-RU" altLang="ru-RU" sz="1600" dirty="0"/>
                  <a:t>Переход к варианту использования ресурсов, который «сам по себе» менее ценен, чем вариант, от которого приходится отказываться (без налога), означает снижение </a:t>
                </a:r>
                <a:r>
                  <a:rPr lang="ru-RU" altLang="ru-RU" sz="1600" dirty="0" err="1"/>
                  <a:t>аллокационной</a:t>
                </a:r>
                <a:r>
                  <a:rPr lang="ru-RU" altLang="ru-RU" sz="1600" dirty="0"/>
                  <a:t> (экономической) эффективности.</a:t>
                </a:r>
              </a:p>
              <a:p>
                <a:r>
                  <a:rPr lang="ru-RU" altLang="ru-RU" sz="1600" dirty="0"/>
                  <a:t>Мерой такого искажения является избыточное налоговое бремя (ИНБ), то же самое </a:t>
                </a:r>
                <a:r>
                  <a:rPr lang="en-US" altLang="ru-RU" sz="1600" dirty="0"/>
                  <a:t>DWL</a:t>
                </a:r>
                <a:r>
                  <a:rPr lang="ru-RU" altLang="ru-RU" sz="1600" dirty="0"/>
                  <a:t>, но в случае введения налога.</a:t>
                </a:r>
              </a:p>
              <a:p>
                <a:r>
                  <a:rPr lang="ru-RU" sz="1600" dirty="0"/>
                  <a:t>Посмотрим на рисунок. Изначально у нас есть случай отсутствия вмешательства. Но потом, например, вводится аккордный налог (просто вычитается сумма из дохода, например, потребителя). Это значит, что линия спроса сдвинется параллельно влево, так как спрос уменьшится. Рыночная цена поделится на цену потребителя (</a:t>
                </a:r>
                <a:r>
                  <a:rPr lang="en-US" sz="1600" dirty="0"/>
                  <a:t>Pd)</a:t>
                </a:r>
                <a:r>
                  <a:rPr lang="ru-RU" sz="1600" dirty="0"/>
                  <a:t> и производителя</a:t>
                </a:r>
                <a:r>
                  <a:rPr lang="en-US" sz="1600" dirty="0"/>
                  <a:t> (Ps)</a:t>
                </a:r>
                <a:r>
                  <a:rPr lang="ru-RU" sz="1600" dirty="0"/>
                  <a:t>. Они будут отличаться на величину налога и сравниваться с равновесной ценой. Таким образом:</a:t>
                </a:r>
              </a:p>
              <a:p>
                <a:pPr lvl="1"/>
                <a:r>
                  <a:rPr lang="en-US" sz="1400" dirty="0"/>
                  <a:t>t = Pd-Ps (</a:t>
                </a:r>
                <a:r>
                  <a:rPr lang="ru-RU" sz="1400" dirty="0"/>
                  <a:t>разница в готовности купить и продать теперь связаны с налогом)</a:t>
                </a:r>
              </a:p>
              <a:p>
                <a:pPr lvl="1"/>
                <a:r>
                  <a:rPr lang="ru-RU" sz="1400" dirty="0"/>
                  <a:t>Налог на потребителе: </a:t>
                </a:r>
                <a14:m>
                  <m:oMath xmlns:m="http://schemas.openxmlformats.org/officeDocument/2006/math">
                    <m:r>
                      <a:rPr lang="en-US" sz="1400" b="1" i="1" smtClean="0">
                        <a:latin typeface="Cambria Math" panose="02040503050406030204" pitchFamily="18" charset="0"/>
                        <a:ea typeface="Cambria Math" panose="02040503050406030204" pitchFamily="18" charset="0"/>
                      </a:rPr>
                      <m:t>∆</m:t>
                    </m:r>
                  </m:oMath>
                </a14:m>
                <a:r>
                  <a:rPr lang="en-US" sz="1400" dirty="0"/>
                  <a:t>Pd =Pd – P* </a:t>
                </a:r>
              </a:p>
              <a:p>
                <a:pPr lvl="1"/>
                <a:r>
                  <a:rPr lang="ru-RU" sz="1400" dirty="0"/>
                  <a:t>Налог на производителе: </a:t>
                </a:r>
                <a14:m>
                  <m:oMath xmlns:m="http://schemas.openxmlformats.org/officeDocument/2006/math">
                    <m:r>
                      <a:rPr lang="en-US" sz="1400" b="1" i="1" smtClean="0">
                        <a:latin typeface="Cambria Math" panose="02040503050406030204" pitchFamily="18" charset="0"/>
                        <a:ea typeface="Cambria Math" panose="02040503050406030204" pitchFamily="18" charset="0"/>
                      </a:rPr>
                      <m:t>∆</m:t>
                    </m:r>
                    <m:r>
                      <m:rPr>
                        <m:sty m:val="p"/>
                      </m:rPr>
                      <a:rPr lang="en-US" sz="1400" b="0" i="0" smtClean="0">
                        <a:latin typeface="Cambria Math" panose="02040503050406030204" pitchFamily="18" charset="0"/>
                        <a:ea typeface="Cambria Math" panose="02040503050406030204" pitchFamily="18" charset="0"/>
                      </a:rPr>
                      <m:t>Ps</m:t>
                    </m:r>
                  </m:oMath>
                </a14:m>
                <a:r>
                  <a:rPr lang="en-US" sz="1400" dirty="0"/>
                  <a:t> = Ps – P*</a:t>
                </a:r>
                <a:endParaRPr lang="ru-RU" sz="1400" dirty="0"/>
              </a:p>
              <a:p>
                <a:endParaRPr lang="ru-RU" sz="1600" dirty="0"/>
              </a:p>
              <a:p>
                <a:endParaRPr lang="ru-RU" sz="1600" dirty="0"/>
              </a:p>
              <a:p>
                <a:pPr lvl="1">
                  <a:buFont typeface="Calibri" panose="020F0502020204030204" pitchFamily="34" charset="0"/>
                  <a:buChar char="−"/>
                </a:pPr>
                <a:endParaRPr lang="ru-RU" sz="1600" dirty="0"/>
              </a:p>
            </p:txBody>
          </p:sp>
        </mc:Choice>
        <mc:Fallback xmlns="">
          <p:sp>
            <p:nvSpPr>
              <p:cNvPr id="9" name="Объект 2">
                <a:extLst>
                  <a:ext uri="{FF2B5EF4-FFF2-40B4-BE49-F238E27FC236}">
                    <a16:creationId xmlns:a16="http://schemas.microsoft.com/office/drawing/2014/main" id="{8F232153-4E1F-0084-F4ED-BE54EEADE47C}"/>
                  </a:ext>
                </a:extLst>
              </p:cNvPr>
              <p:cNvSpPr>
                <a:spLocks noGrp="1" noRot="1" noChangeAspect="1" noMove="1" noResize="1" noEditPoints="1" noAdjustHandles="1" noChangeArrowheads="1" noChangeShapeType="1" noTextEdit="1"/>
              </p:cNvSpPr>
              <p:nvPr>
                <p:ph idx="1"/>
              </p:nvPr>
            </p:nvSpPr>
            <p:spPr>
              <a:xfrm>
                <a:off x="203199" y="1469628"/>
                <a:ext cx="7082977" cy="5023247"/>
              </a:xfrm>
              <a:blipFill>
                <a:blip r:embed="rId2"/>
                <a:stretch>
                  <a:fillRect l="-344" t="-850" r="-861"/>
                </a:stretch>
              </a:blipFill>
            </p:spPr>
            <p:txBody>
              <a:bodyPr/>
              <a:lstStyle/>
              <a:p>
                <a:r>
                  <a:rPr lang="ru-RU">
                    <a:noFill/>
                  </a:rPr>
                  <a:t> </a:t>
                </a:r>
              </a:p>
            </p:txBody>
          </p:sp>
        </mc:Fallback>
      </mc:AlternateContent>
      <p:sp>
        <p:nvSpPr>
          <p:cNvPr id="2" name="Заголовок 1">
            <a:extLst>
              <a:ext uri="{FF2B5EF4-FFF2-40B4-BE49-F238E27FC236}">
                <a16:creationId xmlns:a16="http://schemas.microsoft.com/office/drawing/2014/main" id="{A8764B92-FD22-3615-C3BA-6DFF9724E9D8}"/>
              </a:ext>
            </a:extLst>
          </p:cNvPr>
          <p:cNvSpPr>
            <a:spLocks noGrp="1"/>
          </p:cNvSpPr>
          <p:nvPr>
            <p:ph type="title"/>
          </p:nvPr>
        </p:nvSpPr>
        <p:spPr/>
        <p:txBody>
          <a:bodyPr/>
          <a:lstStyle/>
          <a:p>
            <a:r>
              <a:rPr lang="ru-RU" dirty="0"/>
              <a:t>Налоговое бремя: что это и как</a:t>
            </a:r>
            <a:r>
              <a:rPr lang="en-US" dirty="0"/>
              <a:t>?</a:t>
            </a:r>
            <a:endParaRPr lang="ru-RU" dirty="0"/>
          </a:p>
        </p:txBody>
      </p:sp>
      <p:sp>
        <p:nvSpPr>
          <p:cNvPr id="4" name="Номер слайда 3">
            <a:extLst>
              <a:ext uri="{FF2B5EF4-FFF2-40B4-BE49-F238E27FC236}">
                <a16:creationId xmlns:a16="http://schemas.microsoft.com/office/drawing/2014/main" id="{66990270-5E7D-321C-BBE3-C408C20B49A3}"/>
              </a:ext>
            </a:extLst>
          </p:cNvPr>
          <p:cNvSpPr>
            <a:spLocks noGrp="1"/>
          </p:cNvSpPr>
          <p:nvPr>
            <p:ph type="sldNum" sz="quarter" idx="12"/>
          </p:nvPr>
        </p:nvSpPr>
        <p:spPr/>
        <p:txBody>
          <a:bodyPr/>
          <a:lstStyle/>
          <a:p>
            <a:fld id="{23F470E1-E072-4587-920D-844ED8D976FF}" type="slidenum">
              <a:rPr lang="ru-RU" smtClean="0"/>
              <a:t>10</a:t>
            </a:fld>
            <a:endParaRPr lang="ru-RU"/>
          </a:p>
        </p:txBody>
      </p:sp>
      <p:cxnSp>
        <p:nvCxnSpPr>
          <p:cNvPr id="3" name="Прямая соединительная линия 2">
            <a:extLst>
              <a:ext uri="{FF2B5EF4-FFF2-40B4-BE49-F238E27FC236}">
                <a16:creationId xmlns:a16="http://schemas.microsoft.com/office/drawing/2014/main" id="{ACECB2BF-2448-6075-DCB4-BE7B118E9F5D}"/>
              </a:ext>
            </a:extLst>
          </p:cNvPr>
          <p:cNvCxnSpPr/>
          <p:nvPr/>
        </p:nvCxnSpPr>
        <p:spPr>
          <a:xfrm flipV="1">
            <a:off x="7708009" y="2241510"/>
            <a:ext cx="2580640" cy="2550160"/>
          </a:xfrm>
          <a:prstGeom prst="line">
            <a:avLst/>
          </a:prstGeom>
          <a:ln/>
        </p:spPr>
        <p:style>
          <a:lnRef idx="3">
            <a:schemeClr val="dk1"/>
          </a:lnRef>
          <a:fillRef idx="0">
            <a:schemeClr val="dk1"/>
          </a:fillRef>
          <a:effectRef idx="2">
            <a:schemeClr val="dk1"/>
          </a:effectRef>
          <a:fontRef idx="minor">
            <a:schemeClr val="tx1"/>
          </a:fontRef>
        </p:style>
      </p:cxnSp>
      <p:cxnSp>
        <p:nvCxnSpPr>
          <p:cNvPr id="6" name="Прямая соединительная линия 5">
            <a:extLst>
              <a:ext uri="{FF2B5EF4-FFF2-40B4-BE49-F238E27FC236}">
                <a16:creationId xmlns:a16="http://schemas.microsoft.com/office/drawing/2014/main" id="{5B6565DA-93B1-89EA-493D-CD83013BA719}"/>
              </a:ext>
            </a:extLst>
          </p:cNvPr>
          <p:cNvCxnSpPr>
            <a:cxnSpLocks/>
          </p:cNvCxnSpPr>
          <p:nvPr/>
        </p:nvCxnSpPr>
        <p:spPr>
          <a:xfrm>
            <a:off x="7687689" y="2261830"/>
            <a:ext cx="2580640" cy="2550160"/>
          </a:xfrm>
          <a:prstGeom prst="line">
            <a:avLst/>
          </a:prstGeom>
          <a:ln/>
        </p:spPr>
        <p:style>
          <a:lnRef idx="3">
            <a:schemeClr val="dk1"/>
          </a:lnRef>
          <a:fillRef idx="0">
            <a:schemeClr val="dk1"/>
          </a:fillRef>
          <a:effectRef idx="2">
            <a:schemeClr val="dk1"/>
          </a:effectRef>
          <a:fontRef idx="minor">
            <a:schemeClr val="tx1"/>
          </a:fontRef>
        </p:style>
      </p:cxnSp>
      <p:cxnSp>
        <p:nvCxnSpPr>
          <p:cNvPr id="7" name="Прямая со стрелкой 6">
            <a:extLst>
              <a:ext uri="{FF2B5EF4-FFF2-40B4-BE49-F238E27FC236}">
                <a16:creationId xmlns:a16="http://schemas.microsoft.com/office/drawing/2014/main" id="{D3D15C7C-F31D-BE6E-F158-8BC249A98174}"/>
              </a:ext>
            </a:extLst>
          </p:cNvPr>
          <p:cNvCxnSpPr>
            <a:cxnSpLocks/>
          </p:cNvCxnSpPr>
          <p:nvPr/>
        </p:nvCxnSpPr>
        <p:spPr>
          <a:xfrm flipH="1" flipV="1">
            <a:off x="7677529" y="1804630"/>
            <a:ext cx="20320" cy="34101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Прямая со стрелкой 7">
            <a:extLst>
              <a:ext uri="{FF2B5EF4-FFF2-40B4-BE49-F238E27FC236}">
                <a16:creationId xmlns:a16="http://schemas.microsoft.com/office/drawing/2014/main" id="{56AF304D-5B50-1A22-36C7-C8F2CF7BCA5F}"/>
              </a:ext>
            </a:extLst>
          </p:cNvPr>
          <p:cNvCxnSpPr>
            <a:cxnSpLocks/>
          </p:cNvCxnSpPr>
          <p:nvPr/>
        </p:nvCxnSpPr>
        <p:spPr>
          <a:xfrm>
            <a:off x="7697849" y="5214818"/>
            <a:ext cx="374904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7E293755-261C-59E9-131B-A1A53DABB2BD}"/>
              </a:ext>
            </a:extLst>
          </p:cNvPr>
          <p:cNvSpPr txBox="1"/>
          <p:nvPr/>
        </p:nvSpPr>
        <p:spPr>
          <a:xfrm>
            <a:off x="7543800" y="1469628"/>
            <a:ext cx="308098" cy="369332"/>
          </a:xfrm>
          <a:prstGeom prst="rect">
            <a:avLst/>
          </a:prstGeom>
          <a:noFill/>
        </p:spPr>
        <p:txBody>
          <a:bodyPr wrap="none" rtlCol="0">
            <a:spAutoFit/>
          </a:bodyPr>
          <a:lstStyle/>
          <a:p>
            <a:r>
              <a:rPr lang="en-US" b="1" dirty="0">
                <a:solidFill>
                  <a:srgbClr val="0070C0"/>
                </a:solidFill>
              </a:rPr>
              <a:t>P</a:t>
            </a:r>
            <a:endParaRPr lang="ru-RU" b="1" dirty="0">
              <a:solidFill>
                <a:srgbClr val="0070C0"/>
              </a:solidFill>
            </a:endParaRPr>
          </a:p>
        </p:txBody>
      </p:sp>
      <p:sp>
        <p:nvSpPr>
          <p:cNvPr id="11" name="TextBox 10">
            <a:extLst>
              <a:ext uri="{FF2B5EF4-FFF2-40B4-BE49-F238E27FC236}">
                <a16:creationId xmlns:a16="http://schemas.microsoft.com/office/drawing/2014/main" id="{574BB135-AFB3-F07E-E386-C51127C3A6D6}"/>
              </a:ext>
            </a:extLst>
          </p:cNvPr>
          <p:cNvSpPr txBox="1"/>
          <p:nvPr/>
        </p:nvSpPr>
        <p:spPr>
          <a:xfrm>
            <a:off x="11457049" y="5030152"/>
            <a:ext cx="343364" cy="369332"/>
          </a:xfrm>
          <a:prstGeom prst="rect">
            <a:avLst/>
          </a:prstGeom>
          <a:noFill/>
        </p:spPr>
        <p:txBody>
          <a:bodyPr wrap="none" rtlCol="0">
            <a:spAutoFit/>
          </a:bodyPr>
          <a:lstStyle/>
          <a:p>
            <a:r>
              <a:rPr lang="en-US" b="1" dirty="0">
                <a:solidFill>
                  <a:srgbClr val="0070C0"/>
                </a:solidFill>
              </a:rPr>
              <a:t>Q</a:t>
            </a:r>
            <a:endParaRPr lang="ru-RU" b="1" dirty="0">
              <a:solidFill>
                <a:srgbClr val="0070C0"/>
              </a:solidFill>
            </a:endParaRPr>
          </a:p>
        </p:txBody>
      </p:sp>
      <p:cxnSp>
        <p:nvCxnSpPr>
          <p:cNvPr id="12" name="Прямая соединительная линия 11">
            <a:extLst>
              <a:ext uri="{FF2B5EF4-FFF2-40B4-BE49-F238E27FC236}">
                <a16:creationId xmlns:a16="http://schemas.microsoft.com/office/drawing/2014/main" id="{85AC7A88-F278-0EDE-9B0F-593356D107F2}"/>
              </a:ext>
            </a:extLst>
          </p:cNvPr>
          <p:cNvCxnSpPr>
            <a:cxnSpLocks/>
          </p:cNvCxnSpPr>
          <p:nvPr/>
        </p:nvCxnSpPr>
        <p:spPr>
          <a:xfrm>
            <a:off x="7706360" y="3488671"/>
            <a:ext cx="1303737" cy="27919"/>
          </a:xfrm>
          <a:prstGeom prst="line">
            <a:avLst/>
          </a:prstGeom>
          <a:ln>
            <a:prstDash val="dashDot"/>
          </a:ln>
        </p:spPr>
        <p:style>
          <a:lnRef idx="1">
            <a:schemeClr val="dk1"/>
          </a:lnRef>
          <a:fillRef idx="0">
            <a:schemeClr val="dk1"/>
          </a:fillRef>
          <a:effectRef idx="0">
            <a:schemeClr val="dk1"/>
          </a:effectRef>
          <a:fontRef idx="minor">
            <a:schemeClr val="tx1"/>
          </a:fontRef>
        </p:style>
      </p:cxnSp>
      <p:cxnSp>
        <p:nvCxnSpPr>
          <p:cNvPr id="13" name="Прямая соединительная линия 12">
            <a:extLst>
              <a:ext uri="{FF2B5EF4-FFF2-40B4-BE49-F238E27FC236}">
                <a16:creationId xmlns:a16="http://schemas.microsoft.com/office/drawing/2014/main" id="{BE725077-CFF5-1407-B172-D98EDC318CDC}"/>
              </a:ext>
            </a:extLst>
          </p:cNvPr>
          <p:cNvCxnSpPr>
            <a:cxnSpLocks/>
          </p:cNvCxnSpPr>
          <p:nvPr/>
        </p:nvCxnSpPr>
        <p:spPr>
          <a:xfrm>
            <a:off x="8999937" y="3608842"/>
            <a:ext cx="0" cy="1565058"/>
          </a:xfrm>
          <a:prstGeom prst="line">
            <a:avLst/>
          </a:prstGeom>
          <a:ln>
            <a:prstDash val="dashDot"/>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192E67FA-4AEA-7325-4368-9381CC649D7E}"/>
              </a:ext>
            </a:extLst>
          </p:cNvPr>
          <p:cNvSpPr txBox="1"/>
          <p:nvPr/>
        </p:nvSpPr>
        <p:spPr>
          <a:xfrm>
            <a:off x="7707522" y="2630702"/>
            <a:ext cx="415498" cy="369332"/>
          </a:xfrm>
          <a:prstGeom prst="rect">
            <a:avLst/>
          </a:prstGeom>
          <a:noFill/>
        </p:spPr>
        <p:txBody>
          <a:bodyPr wrap="none" rtlCol="0">
            <a:spAutoFit/>
          </a:bodyPr>
          <a:lstStyle/>
          <a:p>
            <a:r>
              <a:rPr lang="en-US" b="1" dirty="0">
                <a:solidFill>
                  <a:srgbClr val="FFC000"/>
                </a:solidFill>
              </a:rPr>
              <a:t>CS</a:t>
            </a:r>
            <a:endParaRPr lang="ru-RU" b="1" dirty="0">
              <a:solidFill>
                <a:srgbClr val="FFC000"/>
              </a:solidFill>
            </a:endParaRPr>
          </a:p>
        </p:txBody>
      </p:sp>
      <p:sp>
        <p:nvSpPr>
          <p:cNvPr id="16" name="Овал 15">
            <a:extLst>
              <a:ext uri="{FF2B5EF4-FFF2-40B4-BE49-F238E27FC236}">
                <a16:creationId xmlns:a16="http://schemas.microsoft.com/office/drawing/2014/main" id="{83075719-5060-ED9E-57E5-CABE4A32959C}"/>
              </a:ext>
            </a:extLst>
          </p:cNvPr>
          <p:cNvSpPr/>
          <p:nvPr/>
        </p:nvSpPr>
        <p:spPr>
          <a:xfrm>
            <a:off x="8937369" y="3480522"/>
            <a:ext cx="108000" cy="1080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17" name="TextBox 16">
            <a:extLst>
              <a:ext uri="{FF2B5EF4-FFF2-40B4-BE49-F238E27FC236}">
                <a16:creationId xmlns:a16="http://schemas.microsoft.com/office/drawing/2014/main" id="{5DA36912-95E1-87E1-A19C-C66E79D8BBE2}"/>
              </a:ext>
            </a:extLst>
          </p:cNvPr>
          <p:cNvSpPr txBox="1"/>
          <p:nvPr/>
        </p:nvSpPr>
        <p:spPr>
          <a:xfrm>
            <a:off x="7225864" y="3331924"/>
            <a:ext cx="423514" cy="369332"/>
          </a:xfrm>
          <a:prstGeom prst="rect">
            <a:avLst/>
          </a:prstGeom>
          <a:noFill/>
        </p:spPr>
        <p:txBody>
          <a:bodyPr wrap="none" rtlCol="0">
            <a:spAutoFit/>
          </a:bodyPr>
          <a:lstStyle/>
          <a:p>
            <a:r>
              <a:rPr lang="en-US" b="1" dirty="0">
                <a:solidFill>
                  <a:schemeClr val="tx1">
                    <a:lumMod val="95000"/>
                    <a:lumOff val="5000"/>
                  </a:schemeClr>
                </a:solidFill>
              </a:rPr>
              <a:t>P</a:t>
            </a:r>
            <a:r>
              <a:rPr lang="ru-RU" b="1" dirty="0">
                <a:solidFill>
                  <a:schemeClr val="tx1">
                    <a:lumMod val="95000"/>
                    <a:lumOff val="5000"/>
                  </a:schemeClr>
                </a:solidFill>
              </a:rPr>
              <a:t>*</a:t>
            </a:r>
          </a:p>
        </p:txBody>
      </p:sp>
      <p:sp>
        <p:nvSpPr>
          <p:cNvPr id="18" name="TextBox 17">
            <a:extLst>
              <a:ext uri="{FF2B5EF4-FFF2-40B4-BE49-F238E27FC236}">
                <a16:creationId xmlns:a16="http://schemas.microsoft.com/office/drawing/2014/main" id="{3318270D-7704-843A-0E8D-8F4C6B793221}"/>
              </a:ext>
            </a:extLst>
          </p:cNvPr>
          <p:cNvSpPr txBox="1"/>
          <p:nvPr/>
        </p:nvSpPr>
        <p:spPr>
          <a:xfrm>
            <a:off x="8798781" y="5138222"/>
            <a:ext cx="458780" cy="369332"/>
          </a:xfrm>
          <a:prstGeom prst="rect">
            <a:avLst/>
          </a:prstGeom>
          <a:noFill/>
        </p:spPr>
        <p:txBody>
          <a:bodyPr wrap="none" rtlCol="0">
            <a:spAutoFit/>
          </a:bodyPr>
          <a:lstStyle/>
          <a:p>
            <a:r>
              <a:rPr lang="en-US" b="1" dirty="0">
                <a:solidFill>
                  <a:schemeClr val="tx1">
                    <a:lumMod val="95000"/>
                    <a:lumOff val="5000"/>
                  </a:schemeClr>
                </a:solidFill>
              </a:rPr>
              <a:t>Q</a:t>
            </a:r>
            <a:r>
              <a:rPr lang="ru-RU" b="1" dirty="0">
                <a:solidFill>
                  <a:schemeClr val="tx1">
                    <a:lumMod val="95000"/>
                    <a:lumOff val="5000"/>
                  </a:schemeClr>
                </a:solidFill>
              </a:rPr>
              <a:t>*</a:t>
            </a:r>
          </a:p>
        </p:txBody>
      </p:sp>
      <p:sp>
        <p:nvSpPr>
          <p:cNvPr id="15" name="TextBox 14">
            <a:extLst>
              <a:ext uri="{FF2B5EF4-FFF2-40B4-BE49-F238E27FC236}">
                <a16:creationId xmlns:a16="http://schemas.microsoft.com/office/drawing/2014/main" id="{898F7361-92B6-B37C-781D-7F4318F0E206}"/>
              </a:ext>
            </a:extLst>
          </p:cNvPr>
          <p:cNvSpPr txBox="1"/>
          <p:nvPr/>
        </p:nvSpPr>
        <p:spPr>
          <a:xfrm>
            <a:off x="7706720" y="4163844"/>
            <a:ext cx="417102" cy="369332"/>
          </a:xfrm>
          <a:prstGeom prst="rect">
            <a:avLst/>
          </a:prstGeom>
          <a:noFill/>
        </p:spPr>
        <p:txBody>
          <a:bodyPr wrap="none" rtlCol="0">
            <a:spAutoFit/>
          </a:bodyPr>
          <a:lstStyle/>
          <a:p>
            <a:r>
              <a:rPr lang="en-US" b="1" dirty="0">
                <a:solidFill>
                  <a:srgbClr val="FFC000"/>
                </a:solidFill>
              </a:rPr>
              <a:t>PS</a:t>
            </a:r>
            <a:endParaRPr lang="ru-RU" b="1" dirty="0">
              <a:solidFill>
                <a:srgbClr val="FFC000"/>
              </a:solidFill>
            </a:endParaRPr>
          </a:p>
        </p:txBody>
      </p:sp>
      <p:sp>
        <p:nvSpPr>
          <p:cNvPr id="19" name="TextBox 18">
            <a:extLst>
              <a:ext uri="{FF2B5EF4-FFF2-40B4-BE49-F238E27FC236}">
                <a16:creationId xmlns:a16="http://schemas.microsoft.com/office/drawing/2014/main" id="{53508B43-E89F-595D-2AFB-44878530946D}"/>
              </a:ext>
            </a:extLst>
          </p:cNvPr>
          <p:cNvSpPr txBox="1"/>
          <p:nvPr/>
        </p:nvSpPr>
        <p:spPr>
          <a:xfrm>
            <a:off x="9963592" y="2029481"/>
            <a:ext cx="293670" cy="369332"/>
          </a:xfrm>
          <a:prstGeom prst="rect">
            <a:avLst/>
          </a:prstGeom>
          <a:noFill/>
        </p:spPr>
        <p:txBody>
          <a:bodyPr wrap="none" rtlCol="0">
            <a:spAutoFit/>
          </a:bodyPr>
          <a:lstStyle/>
          <a:p>
            <a:r>
              <a:rPr lang="en-US" b="1" dirty="0"/>
              <a:t>S</a:t>
            </a:r>
            <a:endParaRPr lang="ru-RU" b="1" dirty="0"/>
          </a:p>
        </p:txBody>
      </p:sp>
      <p:sp>
        <p:nvSpPr>
          <p:cNvPr id="20" name="TextBox 19">
            <a:extLst>
              <a:ext uri="{FF2B5EF4-FFF2-40B4-BE49-F238E27FC236}">
                <a16:creationId xmlns:a16="http://schemas.microsoft.com/office/drawing/2014/main" id="{AC7B85F7-BCF6-AEC8-F02B-44B43DB8309B}"/>
              </a:ext>
            </a:extLst>
          </p:cNvPr>
          <p:cNvSpPr txBox="1"/>
          <p:nvPr/>
        </p:nvSpPr>
        <p:spPr>
          <a:xfrm>
            <a:off x="7706360" y="2028925"/>
            <a:ext cx="330540" cy="369332"/>
          </a:xfrm>
          <a:prstGeom prst="rect">
            <a:avLst/>
          </a:prstGeom>
          <a:noFill/>
        </p:spPr>
        <p:txBody>
          <a:bodyPr wrap="none" rtlCol="0">
            <a:spAutoFit/>
          </a:bodyPr>
          <a:lstStyle/>
          <a:p>
            <a:r>
              <a:rPr lang="en-US" b="1" dirty="0"/>
              <a:t>D</a:t>
            </a:r>
            <a:endParaRPr lang="ru-RU" b="1" dirty="0"/>
          </a:p>
        </p:txBody>
      </p:sp>
      <p:sp>
        <p:nvSpPr>
          <p:cNvPr id="21" name="TextBox 20">
            <a:extLst>
              <a:ext uri="{FF2B5EF4-FFF2-40B4-BE49-F238E27FC236}">
                <a16:creationId xmlns:a16="http://schemas.microsoft.com/office/drawing/2014/main" id="{2F689C97-461D-70B6-9E8F-45164596483F}"/>
              </a:ext>
            </a:extLst>
          </p:cNvPr>
          <p:cNvSpPr txBox="1"/>
          <p:nvPr/>
        </p:nvSpPr>
        <p:spPr>
          <a:xfrm>
            <a:off x="7216903" y="2710002"/>
            <a:ext cx="428707" cy="369332"/>
          </a:xfrm>
          <a:prstGeom prst="rect">
            <a:avLst/>
          </a:prstGeom>
          <a:noFill/>
        </p:spPr>
        <p:txBody>
          <a:bodyPr wrap="none" rtlCol="0">
            <a:spAutoFit/>
          </a:bodyPr>
          <a:lstStyle/>
          <a:p>
            <a:r>
              <a:rPr lang="en-US" b="1" dirty="0">
                <a:solidFill>
                  <a:srgbClr val="FFC000"/>
                </a:solidFill>
              </a:rPr>
              <a:t>Pd</a:t>
            </a:r>
            <a:endParaRPr lang="ru-RU" b="1" dirty="0">
              <a:solidFill>
                <a:srgbClr val="FFC000"/>
              </a:solidFill>
            </a:endParaRPr>
          </a:p>
        </p:txBody>
      </p:sp>
      <p:sp>
        <p:nvSpPr>
          <p:cNvPr id="22" name="TextBox 21">
            <a:extLst>
              <a:ext uri="{FF2B5EF4-FFF2-40B4-BE49-F238E27FC236}">
                <a16:creationId xmlns:a16="http://schemas.microsoft.com/office/drawing/2014/main" id="{DA66EE51-8D9C-1FEA-0D03-22B829BE0A59}"/>
              </a:ext>
            </a:extLst>
          </p:cNvPr>
          <p:cNvSpPr txBox="1"/>
          <p:nvPr/>
        </p:nvSpPr>
        <p:spPr>
          <a:xfrm>
            <a:off x="7238947" y="3771742"/>
            <a:ext cx="396968" cy="369332"/>
          </a:xfrm>
          <a:prstGeom prst="rect">
            <a:avLst/>
          </a:prstGeom>
          <a:noFill/>
        </p:spPr>
        <p:txBody>
          <a:bodyPr wrap="none" rtlCol="0">
            <a:spAutoFit/>
          </a:bodyPr>
          <a:lstStyle/>
          <a:p>
            <a:r>
              <a:rPr lang="en-US" b="1" dirty="0">
                <a:solidFill>
                  <a:srgbClr val="FFC000"/>
                </a:solidFill>
              </a:rPr>
              <a:t>Ps</a:t>
            </a:r>
            <a:endParaRPr lang="ru-RU" b="1" dirty="0">
              <a:solidFill>
                <a:srgbClr val="FFC000"/>
              </a:solidFill>
            </a:endParaRPr>
          </a:p>
        </p:txBody>
      </p:sp>
      <p:cxnSp>
        <p:nvCxnSpPr>
          <p:cNvPr id="23" name="Прямая соединительная линия 22">
            <a:extLst>
              <a:ext uri="{FF2B5EF4-FFF2-40B4-BE49-F238E27FC236}">
                <a16:creationId xmlns:a16="http://schemas.microsoft.com/office/drawing/2014/main" id="{8F670E20-4528-3414-69D2-60F353FA3EB3}"/>
              </a:ext>
            </a:extLst>
          </p:cNvPr>
          <p:cNvCxnSpPr>
            <a:cxnSpLocks/>
          </p:cNvCxnSpPr>
          <p:nvPr/>
        </p:nvCxnSpPr>
        <p:spPr>
          <a:xfrm>
            <a:off x="8473440" y="2997200"/>
            <a:ext cx="25807" cy="2217340"/>
          </a:xfrm>
          <a:prstGeom prst="line">
            <a:avLst/>
          </a:prstGeom>
          <a:ln>
            <a:prstDash val="dashDot"/>
          </a:ln>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F6D64AC6-FDE6-DCF3-5800-2BA2FF3CA761}"/>
              </a:ext>
            </a:extLst>
          </p:cNvPr>
          <p:cNvSpPr txBox="1"/>
          <p:nvPr/>
        </p:nvSpPr>
        <p:spPr>
          <a:xfrm>
            <a:off x="8320847" y="5138222"/>
            <a:ext cx="423514" cy="369332"/>
          </a:xfrm>
          <a:prstGeom prst="rect">
            <a:avLst/>
          </a:prstGeom>
          <a:noFill/>
        </p:spPr>
        <p:txBody>
          <a:bodyPr wrap="none" rtlCol="0">
            <a:spAutoFit/>
          </a:bodyPr>
          <a:lstStyle/>
          <a:p>
            <a:r>
              <a:rPr lang="en-US" b="1" dirty="0">
                <a:solidFill>
                  <a:schemeClr val="tx1">
                    <a:lumMod val="95000"/>
                    <a:lumOff val="5000"/>
                  </a:schemeClr>
                </a:solidFill>
              </a:rPr>
              <a:t>Qt</a:t>
            </a:r>
            <a:endParaRPr lang="ru-RU" b="1" dirty="0">
              <a:solidFill>
                <a:schemeClr val="tx1">
                  <a:lumMod val="95000"/>
                  <a:lumOff val="5000"/>
                </a:schemeClr>
              </a:solidFill>
            </a:endParaRPr>
          </a:p>
        </p:txBody>
      </p:sp>
      <p:cxnSp>
        <p:nvCxnSpPr>
          <p:cNvPr id="30" name="Прямая соединительная линия 29">
            <a:extLst>
              <a:ext uri="{FF2B5EF4-FFF2-40B4-BE49-F238E27FC236}">
                <a16:creationId xmlns:a16="http://schemas.microsoft.com/office/drawing/2014/main" id="{21DAAFBA-0735-5AB3-2433-F42654334A48}"/>
              </a:ext>
            </a:extLst>
          </p:cNvPr>
          <p:cNvCxnSpPr>
            <a:cxnSpLocks/>
          </p:cNvCxnSpPr>
          <p:nvPr/>
        </p:nvCxnSpPr>
        <p:spPr>
          <a:xfrm>
            <a:off x="7676090" y="2979084"/>
            <a:ext cx="702458" cy="5123"/>
          </a:xfrm>
          <a:prstGeom prst="line">
            <a:avLst/>
          </a:prstGeom>
          <a:ln>
            <a:solidFill>
              <a:srgbClr val="C00000"/>
            </a:solidFill>
            <a:prstDash val="dashDot"/>
          </a:ln>
        </p:spPr>
        <p:style>
          <a:lnRef idx="1">
            <a:schemeClr val="dk1"/>
          </a:lnRef>
          <a:fillRef idx="0">
            <a:schemeClr val="dk1"/>
          </a:fillRef>
          <a:effectRef idx="0">
            <a:schemeClr val="dk1"/>
          </a:effectRef>
          <a:fontRef idx="minor">
            <a:schemeClr val="tx1"/>
          </a:fontRef>
        </p:style>
      </p:cxnSp>
      <p:cxnSp>
        <p:nvCxnSpPr>
          <p:cNvPr id="33" name="Прямая соединительная линия 32">
            <a:extLst>
              <a:ext uri="{FF2B5EF4-FFF2-40B4-BE49-F238E27FC236}">
                <a16:creationId xmlns:a16="http://schemas.microsoft.com/office/drawing/2014/main" id="{D8BE1AAD-7BC2-D410-431E-97FFB2850BCE}"/>
              </a:ext>
            </a:extLst>
          </p:cNvPr>
          <p:cNvCxnSpPr>
            <a:cxnSpLocks/>
          </p:cNvCxnSpPr>
          <p:nvPr/>
        </p:nvCxnSpPr>
        <p:spPr>
          <a:xfrm>
            <a:off x="7706620" y="4004205"/>
            <a:ext cx="702458" cy="5123"/>
          </a:xfrm>
          <a:prstGeom prst="line">
            <a:avLst/>
          </a:prstGeom>
          <a:ln>
            <a:solidFill>
              <a:srgbClr val="C00000"/>
            </a:solidFill>
            <a:prstDash val="dashDot"/>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36" name="Рукописный ввод 35">
                <a:extLst>
                  <a:ext uri="{FF2B5EF4-FFF2-40B4-BE49-F238E27FC236}">
                    <a16:creationId xmlns:a16="http://schemas.microsoft.com/office/drawing/2014/main" id="{2B65CE6E-60A5-C282-0204-216117178B76}"/>
                  </a:ext>
                </a:extLst>
              </p14:cNvPr>
              <p14:cNvContentPartPr/>
              <p14:nvPr/>
            </p14:nvContentPartPr>
            <p14:xfrm>
              <a:off x="8492160" y="3099560"/>
              <a:ext cx="52560" cy="903600"/>
            </p14:xfrm>
          </p:contentPart>
        </mc:Choice>
        <mc:Fallback xmlns="">
          <p:pic>
            <p:nvPicPr>
              <p:cNvPr id="36" name="Рукописный ввод 35">
                <a:extLst>
                  <a:ext uri="{FF2B5EF4-FFF2-40B4-BE49-F238E27FC236}">
                    <a16:creationId xmlns:a16="http://schemas.microsoft.com/office/drawing/2014/main" id="{2B65CE6E-60A5-C282-0204-216117178B76}"/>
                  </a:ext>
                </a:extLst>
              </p:cNvPr>
              <p:cNvPicPr/>
              <p:nvPr/>
            </p:nvPicPr>
            <p:blipFill>
              <a:blip r:embed="rId4"/>
              <a:stretch>
                <a:fillRect/>
              </a:stretch>
            </p:blipFill>
            <p:spPr>
              <a:xfrm>
                <a:off x="8474160" y="3063920"/>
                <a:ext cx="88200" cy="975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7" name="Рукописный ввод 36">
                <a:extLst>
                  <a:ext uri="{FF2B5EF4-FFF2-40B4-BE49-F238E27FC236}">
                    <a16:creationId xmlns:a16="http://schemas.microsoft.com/office/drawing/2014/main" id="{4E451360-147B-E3EA-D100-4EDD2D588908}"/>
                  </a:ext>
                </a:extLst>
              </p14:cNvPr>
              <p14:cNvContentPartPr/>
              <p14:nvPr/>
            </p14:nvContentPartPr>
            <p14:xfrm>
              <a:off x="8492880" y="3069320"/>
              <a:ext cx="52200" cy="930240"/>
            </p14:xfrm>
          </p:contentPart>
        </mc:Choice>
        <mc:Fallback xmlns="">
          <p:pic>
            <p:nvPicPr>
              <p:cNvPr id="37" name="Рукописный ввод 36">
                <a:extLst>
                  <a:ext uri="{FF2B5EF4-FFF2-40B4-BE49-F238E27FC236}">
                    <a16:creationId xmlns:a16="http://schemas.microsoft.com/office/drawing/2014/main" id="{4E451360-147B-E3EA-D100-4EDD2D588908}"/>
                  </a:ext>
                </a:extLst>
              </p:cNvPr>
              <p:cNvPicPr/>
              <p:nvPr/>
            </p:nvPicPr>
            <p:blipFill>
              <a:blip r:embed="rId6"/>
              <a:stretch>
                <a:fillRect/>
              </a:stretch>
            </p:blipFill>
            <p:spPr>
              <a:xfrm>
                <a:off x="8475240" y="3033320"/>
                <a:ext cx="87840" cy="10018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8" name="Рукописный ввод 37">
                <a:extLst>
                  <a:ext uri="{FF2B5EF4-FFF2-40B4-BE49-F238E27FC236}">
                    <a16:creationId xmlns:a16="http://schemas.microsoft.com/office/drawing/2014/main" id="{FC5FDD44-5307-9FE5-99F9-792A8CF2E1DC}"/>
                  </a:ext>
                </a:extLst>
              </p14:cNvPr>
              <p14:cNvContentPartPr/>
              <p14:nvPr/>
            </p14:nvContentPartPr>
            <p14:xfrm>
              <a:off x="8574600" y="3484400"/>
              <a:ext cx="354960" cy="519120"/>
            </p14:xfrm>
          </p:contentPart>
        </mc:Choice>
        <mc:Fallback xmlns="">
          <p:pic>
            <p:nvPicPr>
              <p:cNvPr id="38" name="Рукописный ввод 37">
                <a:extLst>
                  <a:ext uri="{FF2B5EF4-FFF2-40B4-BE49-F238E27FC236}">
                    <a16:creationId xmlns:a16="http://schemas.microsoft.com/office/drawing/2014/main" id="{FC5FDD44-5307-9FE5-99F9-792A8CF2E1DC}"/>
                  </a:ext>
                </a:extLst>
              </p:cNvPr>
              <p:cNvPicPr/>
              <p:nvPr/>
            </p:nvPicPr>
            <p:blipFill>
              <a:blip r:embed="rId8"/>
              <a:stretch>
                <a:fillRect/>
              </a:stretch>
            </p:blipFill>
            <p:spPr>
              <a:xfrm>
                <a:off x="8556960" y="3448760"/>
                <a:ext cx="390600" cy="5907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9" name="Рукописный ввод 38">
                <a:extLst>
                  <a:ext uri="{FF2B5EF4-FFF2-40B4-BE49-F238E27FC236}">
                    <a16:creationId xmlns:a16="http://schemas.microsoft.com/office/drawing/2014/main" id="{FC8E8D78-3B96-1CB5-D929-F557A65569A1}"/>
                  </a:ext>
                </a:extLst>
              </p14:cNvPr>
              <p14:cNvContentPartPr/>
              <p14:nvPr/>
            </p14:nvContentPartPr>
            <p14:xfrm>
              <a:off x="8544000" y="3057800"/>
              <a:ext cx="385920" cy="427320"/>
            </p14:xfrm>
          </p:contentPart>
        </mc:Choice>
        <mc:Fallback xmlns="">
          <p:pic>
            <p:nvPicPr>
              <p:cNvPr id="39" name="Рукописный ввод 38">
                <a:extLst>
                  <a:ext uri="{FF2B5EF4-FFF2-40B4-BE49-F238E27FC236}">
                    <a16:creationId xmlns:a16="http://schemas.microsoft.com/office/drawing/2014/main" id="{FC8E8D78-3B96-1CB5-D929-F557A65569A1}"/>
                  </a:ext>
                </a:extLst>
              </p:cNvPr>
              <p:cNvPicPr/>
              <p:nvPr/>
            </p:nvPicPr>
            <p:blipFill>
              <a:blip r:embed="rId10"/>
              <a:stretch>
                <a:fillRect/>
              </a:stretch>
            </p:blipFill>
            <p:spPr>
              <a:xfrm>
                <a:off x="8526360" y="3022160"/>
                <a:ext cx="421560" cy="4989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0" name="Рукописный ввод 39">
                <a:extLst>
                  <a:ext uri="{FF2B5EF4-FFF2-40B4-BE49-F238E27FC236}">
                    <a16:creationId xmlns:a16="http://schemas.microsoft.com/office/drawing/2014/main" id="{79A4E083-785F-7545-3B09-8D748913F6B3}"/>
                  </a:ext>
                </a:extLst>
              </p14:cNvPr>
              <p14:cNvContentPartPr/>
              <p14:nvPr/>
            </p14:nvContentPartPr>
            <p14:xfrm>
              <a:off x="7721400" y="3048080"/>
              <a:ext cx="689400" cy="21240"/>
            </p14:xfrm>
          </p:contentPart>
        </mc:Choice>
        <mc:Fallback xmlns="">
          <p:pic>
            <p:nvPicPr>
              <p:cNvPr id="40" name="Рукописный ввод 39">
                <a:extLst>
                  <a:ext uri="{FF2B5EF4-FFF2-40B4-BE49-F238E27FC236}">
                    <a16:creationId xmlns:a16="http://schemas.microsoft.com/office/drawing/2014/main" id="{79A4E083-785F-7545-3B09-8D748913F6B3}"/>
                  </a:ext>
                </a:extLst>
              </p:cNvPr>
              <p:cNvPicPr/>
              <p:nvPr/>
            </p:nvPicPr>
            <p:blipFill>
              <a:blip r:embed="rId12"/>
              <a:stretch>
                <a:fillRect/>
              </a:stretch>
            </p:blipFill>
            <p:spPr>
              <a:xfrm>
                <a:off x="7703760" y="3012080"/>
                <a:ext cx="72504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2" name="Рукописный ввод 41">
                <a:extLst>
                  <a:ext uri="{FF2B5EF4-FFF2-40B4-BE49-F238E27FC236}">
                    <a16:creationId xmlns:a16="http://schemas.microsoft.com/office/drawing/2014/main" id="{7180E29C-4854-B2EB-92AC-FABA51DCB54A}"/>
                  </a:ext>
                </a:extLst>
              </p14:cNvPr>
              <p14:cNvContentPartPr/>
              <p14:nvPr/>
            </p14:nvContentPartPr>
            <p14:xfrm>
              <a:off x="7711320" y="3941240"/>
              <a:ext cx="740880" cy="10800"/>
            </p14:xfrm>
          </p:contentPart>
        </mc:Choice>
        <mc:Fallback xmlns="">
          <p:pic>
            <p:nvPicPr>
              <p:cNvPr id="42" name="Рукописный ввод 41">
                <a:extLst>
                  <a:ext uri="{FF2B5EF4-FFF2-40B4-BE49-F238E27FC236}">
                    <a16:creationId xmlns:a16="http://schemas.microsoft.com/office/drawing/2014/main" id="{7180E29C-4854-B2EB-92AC-FABA51DCB54A}"/>
                  </a:ext>
                </a:extLst>
              </p:cNvPr>
              <p:cNvPicPr/>
              <p:nvPr/>
            </p:nvPicPr>
            <p:blipFill>
              <a:blip r:embed="rId14"/>
              <a:stretch>
                <a:fillRect/>
              </a:stretch>
            </p:blipFill>
            <p:spPr>
              <a:xfrm>
                <a:off x="7693320" y="3905600"/>
                <a:ext cx="77652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43" name="Рукописный ввод 42">
                <a:extLst>
                  <a:ext uri="{FF2B5EF4-FFF2-40B4-BE49-F238E27FC236}">
                    <a16:creationId xmlns:a16="http://schemas.microsoft.com/office/drawing/2014/main" id="{A8080770-381E-E414-AB8D-FE4E74220880}"/>
                  </a:ext>
                </a:extLst>
              </p14:cNvPr>
              <p14:cNvContentPartPr/>
              <p14:nvPr/>
            </p14:nvContentPartPr>
            <p14:xfrm>
              <a:off x="7721400" y="3088400"/>
              <a:ext cx="10800" cy="792000"/>
            </p14:xfrm>
          </p:contentPart>
        </mc:Choice>
        <mc:Fallback xmlns="">
          <p:pic>
            <p:nvPicPr>
              <p:cNvPr id="43" name="Рукописный ввод 42">
                <a:extLst>
                  <a:ext uri="{FF2B5EF4-FFF2-40B4-BE49-F238E27FC236}">
                    <a16:creationId xmlns:a16="http://schemas.microsoft.com/office/drawing/2014/main" id="{A8080770-381E-E414-AB8D-FE4E74220880}"/>
                  </a:ext>
                </a:extLst>
              </p:cNvPr>
              <p:cNvPicPr/>
              <p:nvPr/>
            </p:nvPicPr>
            <p:blipFill>
              <a:blip r:embed="rId16"/>
              <a:stretch>
                <a:fillRect/>
              </a:stretch>
            </p:blipFill>
            <p:spPr>
              <a:xfrm>
                <a:off x="7703760" y="3052400"/>
                <a:ext cx="46440" cy="8636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44" name="Рукописный ввод 43">
                <a:extLst>
                  <a:ext uri="{FF2B5EF4-FFF2-40B4-BE49-F238E27FC236}">
                    <a16:creationId xmlns:a16="http://schemas.microsoft.com/office/drawing/2014/main" id="{FA0508CD-14C9-1FB2-4E5B-C5087EEBB998}"/>
                  </a:ext>
                </a:extLst>
              </p14:cNvPr>
              <p14:cNvContentPartPr/>
              <p14:nvPr/>
            </p14:nvContentPartPr>
            <p14:xfrm>
              <a:off x="8452920" y="3110000"/>
              <a:ext cx="20880" cy="791640"/>
            </p14:xfrm>
          </p:contentPart>
        </mc:Choice>
        <mc:Fallback xmlns="">
          <p:pic>
            <p:nvPicPr>
              <p:cNvPr id="44" name="Рукописный ввод 43">
                <a:extLst>
                  <a:ext uri="{FF2B5EF4-FFF2-40B4-BE49-F238E27FC236}">
                    <a16:creationId xmlns:a16="http://schemas.microsoft.com/office/drawing/2014/main" id="{FA0508CD-14C9-1FB2-4E5B-C5087EEBB998}"/>
                  </a:ext>
                </a:extLst>
              </p:cNvPr>
              <p:cNvPicPr/>
              <p:nvPr/>
            </p:nvPicPr>
            <p:blipFill>
              <a:blip r:embed="rId18"/>
              <a:stretch>
                <a:fillRect/>
              </a:stretch>
            </p:blipFill>
            <p:spPr>
              <a:xfrm>
                <a:off x="8434920" y="3074000"/>
                <a:ext cx="56520" cy="863280"/>
              </a:xfrm>
              <a:prstGeom prst="rect">
                <a:avLst/>
              </a:prstGeom>
            </p:spPr>
          </p:pic>
        </mc:Fallback>
      </mc:AlternateContent>
      <p:sp>
        <p:nvSpPr>
          <p:cNvPr id="45" name="TextBox 44">
            <a:extLst>
              <a:ext uri="{FF2B5EF4-FFF2-40B4-BE49-F238E27FC236}">
                <a16:creationId xmlns:a16="http://schemas.microsoft.com/office/drawing/2014/main" id="{82615354-965C-09D9-1270-AADDFB0259DB}"/>
              </a:ext>
            </a:extLst>
          </p:cNvPr>
          <p:cNvSpPr txBox="1"/>
          <p:nvPr/>
        </p:nvSpPr>
        <p:spPr>
          <a:xfrm>
            <a:off x="7930549" y="3309540"/>
            <a:ext cx="332142" cy="369332"/>
          </a:xfrm>
          <a:prstGeom prst="rect">
            <a:avLst/>
          </a:prstGeom>
          <a:noFill/>
        </p:spPr>
        <p:txBody>
          <a:bodyPr wrap="none" rtlCol="0">
            <a:spAutoFit/>
          </a:bodyPr>
          <a:lstStyle/>
          <a:p>
            <a:r>
              <a:rPr lang="en-US" b="1" dirty="0">
                <a:solidFill>
                  <a:srgbClr val="0070C0"/>
                </a:solidFill>
              </a:rPr>
              <a:t>G</a:t>
            </a:r>
            <a:endParaRPr lang="ru-RU" b="1" dirty="0">
              <a:solidFill>
                <a:srgbClr val="0070C0"/>
              </a:solidFill>
            </a:endParaRPr>
          </a:p>
        </p:txBody>
      </p:sp>
      <p:sp>
        <p:nvSpPr>
          <p:cNvPr id="46" name="TextBox 45">
            <a:extLst>
              <a:ext uri="{FF2B5EF4-FFF2-40B4-BE49-F238E27FC236}">
                <a16:creationId xmlns:a16="http://schemas.microsoft.com/office/drawing/2014/main" id="{D77B524A-8DEE-8146-FE6B-2D16413795A8}"/>
              </a:ext>
            </a:extLst>
          </p:cNvPr>
          <p:cNvSpPr txBox="1"/>
          <p:nvPr/>
        </p:nvSpPr>
        <p:spPr>
          <a:xfrm>
            <a:off x="8485036" y="3391387"/>
            <a:ext cx="459430" cy="269301"/>
          </a:xfrm>
          <a:prstGeom prst="rect">
            <a:avLst/>
          </a:prstGeom>
          <a:noFill/>
        </p:spPr>
        <p:txBody>
          <a:bodyPr wrap="square" rtlCol="0">
            <a:spAutoFit/>
          </a:bodyPr>
          <a:lstStyle/>
          <a:p>
            <a:r>
              <a:rPr lang="en-US" sz="1100" b="1" dirty="0">
                <a:solidFill>
                  <a:srgbClr val="C00000"/>
                </a:solidFill>
              </a:rPr>
              <a:t>DWL</a:t>
            </a:r>
            <a:endParaRPr lang="ru-RU" sz="1100" b="1" dirty="0">
              <a:solidFill>
                <a:srgbClr val="C00000"/>
              </a:solidFill>
            </a:endParaRPr>
          </a:p>
        </p:txBody>
      </p:sp>
      <p:sp>
        <p:nvSpPr>
          <p:cNvPr id="47" name="Левая фигурная скобка 46">
            <a:extLst>
              <a:ext uri="{FF2B5EF4-FFF2-40B4-BE49-F238E27FC236}">
                <a16:creationId xmlns:a16="http://schemas.microsoft.com/office/drawing/2014/main" id="{7BA1C446-097F-A033-C8D6-ADC89599D6D2}"/>
              </a:ext>
            </a:extLst>
          </p:cNvPr>
          <p:cNvSpPr/>
          <p:nvPr/>
        </p:nvSpPr>
        <p:spPr>
          <a:xfrm>
            <a:off x="6987174" y="2978563"/>
            <a:ext cx="210517" cy="94838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48" name="TextBox 47">
            <a:extLst>
              <a:ext uri="{FF2B5EF4-FFF2-40B4-BE49-F238E27FC236}">
                <a16:creationId xmlns:a16="http://schemas.microsoft.com/office/drawing/2014/main" id="{3FE0BF81-20E4-DAB5-2695-E757F8A1B682}"/>
              </a:ext>
            </a:extLst>
          </p:cNvPr>
          <p:cNvSpPr txBox="1"/>
          <p:nvPr/>
        </p:nvSpPr>
        <p:spPr>
          <a:xfrm>
            <a:off x="6778470" y="3268087"/>
            <a:ext cx="264816" cy="369332"/>
          </a:xfrm>
          <a:prstGeom prst="rect">
            <a:avLst/>
          </a:prstGeom>
          <a:noFill/>
        </p:spPr>
        <p:txBody>
          <a:bodyPr wrap="none" rtlCol="0">
            <a:spAutoFit/>
          </a:bodyPr>
          <a:lstStyle/>
          <a:p>
            <a:r>
              <a:rPr lang="en-US" b="1" dirty="0">
                <a:solidFill>
                  <a:srgbClr val="FFC000"/>
                </a:solidFill>
              </a:rPr>
              <a:t>t</a:t>
            </a:r>
            <a:endParaRPr lang="ru-RU" b="1" dirty="0">
              <a:solidFill>
                <a:srgbClr val="FFC000"/>
              </a:solidFill>
            </a:endParaRPr>
          </a:p>
        </p:txBody>
      </p:sp>
    </p:spTree>
    <p:extLst>
      <p:ext uri="{BB962C8B-B14F-4D97-AF65-F5344CB8AC3E}">
        <p14:creationId xmlns:p14="http://schemas.microsoft.com/office/powerpoint/2010/main" val="3924015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645951-AF6B-6880-91BB-B6B5916B69A4}"/>
              </a:ext>
            </a:extLst>
          </p:cNvPr>
          <p:cNvSpPr>
            <a:spLocks noGrp="1"/>
          </p:cNvSpPr>
          <p:nvPr>
            <p:ph type="title"/>
          </p:nvPr>
        </p:nvSpPr>
        <p:spPr/>
        <p:txBody>
          <a:bodyPr/>
          <a:lstStyle/>
          <a:p>
            <a:r>
              <a:rPr lang="ru-RU" dirty="0"/>
              <a:t>Налоговое бремя: что это и как</a:t>
            </a:r>
            <a:r>
              <a:rPr lang="en-US" dirty="0"/>
              <a:t>? (2)</a:t>
            </a:r>
            <a:endParaRPr lang="ru-RU" dirty="0"/>
          </a:p>
        </p:txBody>
      </p:sp>
      <p:sp>
        <p:nvSpPr>
          <p:cNvPr id="3" name="Объект 2">
            <a:extLst>
              <a:ext uri="{FF2B5EF4-FFF2-40B4-BE49-F238E27FC236}">
                <a16:creationId xmlns:a16="http://schemas.microsoft.com/office/drawing/2014/main" id="{4F5CBDE8-7C3D-0760-1554-162AFCF02565}"/>
              </a:ext>
            </a:extLst>
          </p:cNvPr>
          <p:cNvSpPr>
            <a:spLocks noGrp="1"/>
          </p:cNvSpPr>
          <p:nvPr>
            <p:ph idx="1"/>
          </p:nvPr>
        </p:nvSpPr>
        <p:spPr>
          <a:xfrm>
            <a:off x="838200" y="1449704"/>
            <a:ext cx="10515600" cy="4906645"/>
          </a:xfrm>
        </p:spPr>
        <p:txBody>
          <a:bodyPr>
            <a:normAutofit/>
          </a:bodyPr>
          <a:lstStyle/>
          <a:p>
            <a:r>
              <a:rPr lang="ru-RU" sz="2000" dirty="0"/>
              <a:t>Теперь объясняем рисунок: изначально у нас не было налога и была Парето-эффективность.</a:t>
            </a:r>
          </a:p>
          <a:p>
            <a:r>
              <a:rPr lang="ru-RU" sz="2000" dirty="0"/>
              <a:t>После введения налога на потребителей (по условию) снизилась их покупательная способность </a:t>
            </a:r>
            <a:r>
              <a:rPr lang="en-US" sz="2000" dirty="0"/>
              <a:t>=&gt;</a:t>
            </a:r>
            <a:r>
              <a:rPr lang="ru-RU" sz="2000" dirty="0"/>
              <a:t> спрос меньше =</a:t>
            </a:r>
            <a:r>
              <a:rPr lang="en-US" sz="2000" dirty="0"/>
              <a:t>&gt;</a:t>
            </a:r>
            <a:r>
              <a:rPr lang="ru-RU" sz="2000" dirty="0"/>
              <a:t> </a:t>
            </a:r>
            <a:r>
              <a:rPr lang="en-US" sz="2000" dirty="0"/>
              <a:t>Q</a:t>
            </a:r>
            <a:r>
              <a:rPr lang="ru-RU" sz="2000" dirty="0"/>
              <a:t> меньше. Цена для них выше равновесной, так как ввели налог (</a:t>
            </a:r>
            <a:r>
              <a:rPr lang="en-US" sz="2000" dirty="0"/>
              <a:t>Pd)</a:t>
            </a:r>
            <a:endParaRPr lang="ru-RU" sz="2000" dirty="0"/>
          </a:p>
          <a:p>
            <a:r>
              <a:rPr lang="ru-RU" sz="2000" dirty="0"/>
              <a:t>Производители хотели бы производить, как раньше, но им некому продать лишнее и они сокращают выпуск. Цену приходится снижать (</a:t>
            </a:r>
            <a:r>
              <a:rPr lang="en-US" sz="2000" dirty="0"/>
              <a:t>Ps</a:t>
            </a:r>
            <a:r>
              <a:rPr lang="ru-RU" sz="2000" dirty="0"/>
              <a:t>).</a:t>
            </a:r>
          </a:p>
          <a:p>
            <a:r>
              <a:rPr lang="ru-RU" sz="2000" dirty="0"/>
              <a:t>Государство получает с налогов часть того излишка, который в первоначальном состоянии был у потребителей и производителей (разница в ценах </a:t>
            </a:r>
            <a:r>
              <a:rPr lang="en-US" sz="2000" dirty="0"/>
              <a:t>Pd </a:t>
            </a:r>
            <a:r>
              <a:rPr lang="ru-RU" sz="2000" dirty="0"/>
              <a:t>и </a:t>
            </a:r>
            <a:r>
              <a:rPr lang="en-US" sz="2000" dirty="0"/>
              <a:t>Ps </a:t>
            </a:r>
            <a:r>
              <a:rPr lang="ru-RU" sz="2000" dirty="0"/>
              <a:t>и есть размер налога). </a:t>
            </a:r>
          </a:p>
          <a:p>
            <a:r>
              <a:rPr lang="ru-RU" sz="2000" dirty="0"/>
              <a:t>Но при этом из-за недовыпуска (меньший выпуск, чем равновесный), появляется избыточное налоговое бремя, то есть это часть излишка, который не получает ни один экономический агент на рынке. Она просто теряется, что и называется другими словами </a:t>
            </a:r>
            <a:r>
              <a:rPr lang="en-US" sz="2000" dirty="0"/>
              <a:t>DWL</a:t>
            </a:r>
            <a:r>
              <a:rPr lang="ru-RU" sz="2000" dirty="0"/>
              <a:t> (красный треугольник).</a:t>
            </a:r>
          </a:p>
          <a:p>
            <a:r>
              <a:rPr lang="ru-RU" sz="2000" dirty="0">
                <a:solidFill>
                  <a:srgbClr val="C00000"/>
                </a:solidFill>
              </a:rPr>
              <a:t>НО: ИНБ может лечь на потребителей и производителей по-разному. Как раз тут вступают в игру эластичности. На нашем рисунке эластичности спроса и предложения примерно равны. Но если они будут разные, то и бремени на кого-то ляжет больше, а на кого-то – меньше.</a:t>
            </a:r>
          </a:p>
        </p:txBody>
      </p:sp>
      <p:sp>
        <p:nvSpPr>
          <p:cNvPr id="5" name="Номер слайда 4">
            <a:extLst>
              <a:ext uri="{FF2B5EF4-FFF2-40B4-BE49-F238E27FC236}">
                <a16:creationId xmlns:a16="http://schemas.microsoft.com/office/drawing/2014/main" id="{4B43F8A2-6A99-3AD3-3588-2E6F9109A53C}"/>
              </a:ext>
            </a:extLst>
          </p:cNvPr>
          <p:cNvSpPr>
            <a:spLocks noGrp="1"/>
          </p:cNvSpPr>
          <p:nvPr>
            <p:ph type="sldNum" sz="quarter" idx="12"/>
          </p:nvPr>
        </p:nvSpPr>
        <p:spPr/>
        <p:txBody>
          <a:bodyPr/>
          <a:lstStyle/>
          <a:p>
            <a:fld id="{23F470E1-E072-4587-920D-844ED8D976FF}" type="slidenum">
              <a:rPr lang="ru-RU" smtClean="0"/>
              <a:t>11</a:t>
            </a:fld>
            <a:endParaRPr lang="ru-RU"/>
          </a:p>
        </p:txBody>
      </p:sp>
    </p:spTree>
    <p:extLst>
      <p:ext uri="{BB962C8B-B14F-4D97-AF65-F5344CB8AC3E}">
        <p14:creationId xmlns:p14="http://schemas.microsoft.com/office/powerpoint/2010/main" val="2235818977"/>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2931</TotalTime>
  <Words>1869</Words>
  <Application>Microsoft Office PowerPoint</Application>
  <PresentationFormat>Широкоэкранный</PresentationFormat>
  <Paragraphs>166</Paragraphs>
  <Slides>11</Slides>
  <Notes>1</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11</vt:i4>
      </vt:variant>
    </vt:vector>
  </HeadingPairs>
  <TitlesOfParts>
    <vt:vector size="17" baseType="lpstr">
      <vt:lpstr>Arial</vt:lpstr>
      <vt:lpstr>Calibri</vt:lpstr>
      <vt:lpstr>Calibri Light</vt:lpstr>
      <vt:lpstr>Cambria Math</vt:lpstr>
      <vt:lpstr>Times New Roman</vt:lpstr>
      <vt:lpstr>Тема Office</vt:lpstr>
      <vt:lpstr>Основы микроэкономики Налоговое бремя</vt:lpstr>
      <vt:lpstr>Экономика без вмешательства государства</vt:lpstr>
      <vt:lpstr>Спрос и предложение: формально</vt:lpstr>
      <vt:lpstr>Как двигаются спрос и предложение?</vt:lpstr>
      <vt:lpstr>Как двигаются спрос и предложение?</vt:lpstr>
      <vt:lpstr>Как двигаются спрос и предложение?</vt:lpstr>
      <vt:lpstr>Излишки потребителя и производителя</vt:lpstr>
      <vt:lpstr>Налоги: зачем они и какие они бывают?</vt:lpstr>
      <vt:lpstr>Критерии оценки налоговых систем</vt:lpstr>
      <vt:lpstr>Налоговое бремя: что это и как?</vt:lpstr>
      <vt:lpstr>Налоговое бремя: что это и как?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Основы микроэкономики Налоговое бремя</dc:title>
  <dc:creator>Анастасия</dc:creator>
  <cp:lastModifiedBy>vladimirskaya</cp:lastModifiedBy>
  <cp:revision>76</cp:revision>
  <dcterms:created xsi:type="dcterms:W3CDTF">2023-10-21T16:43:39Z</dcterms:created>
  <dcterms:modified xsi:type="dcterms:W3CDTF">2026-09-22T12:55:23Z</dcterms:modified>
</cp:coreProperties>
</file>